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4" r:id="rId15"/>
    <p:sldId id="273" r:id="rId16"/>
    <p:sldId id="270" r:id="rId17"/>
    <p:sldId id="271" r:id="rId18"/>
    <p:sldId id="272" r:id="rId19"/>
    <p:sldId id="267" r:id="rId20"/>
  </p:sldIdLst>
  <p:sldSz cx="12192000" cy="6858000"/>
  <p:notesSz cx="6858000" cy="9144000"/>
  <p:embeddedFontLst>
    <p:embeddedFont>
      <p:font typeface="Play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7F279B-BE86-4C7B-800C-E3FBC26F9CC8}" v="1" dt="2026-10-29T03:07:21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72637C-6261-40BA-B51D-BEFA21951C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itha Pydah" userId="7846ccb4bb5baf20" providerId="LiveId" clId="{7CAC734E-CCA5-46E4-AE9C-3EF3740C4AD6}"/>
    <pc:docChg chg="undo custSel addSld modSld sldOrd">
      <pc:chgData name="Hasitha Pydah" userId="7846ccb4bb5baf20" providerId="LiveId" clId="{7CAC734E-CCA5-46E4-AE9C-3EF3740C4AD6}" dt="2026-10-29T03:07:25.071" v="83" actId="20577"/>
      <pc:docMkLst>
        <pc:docMk/>
      </pc:docMkLst>
      <pc:sldChg chg="modSp mod">
        <pc:chgData name="Hasitha Pydah" userId="7846ccb4bb5baf20" providerId="LiveId" clId="{7CAC734E-CCA5-46E4-AE9C-3EF3740C4AD6}" dt="2026-10-29T03:02:56.260" v="57" actId="20577"/>
        <pc:sldMkLst>
          <pc:docMk/>
          <pc:sldMk cId="0" sldId="256"/>
        </pc:sldMkLst>
        <pc:spChg chg="mod">
          <ac:chgData name="Hasitha Pydah" userId="7846ccb4bb5baf20" providerId="LiveId" clId="{7CAC734E-CCA5-46E4-AE9C-3EF3740C4AD6}" dt="2026-10-29T03:02:56.260" v="57" actId="20577"/>
          <ac:spMkLst>
            <pc:docMk/>
            <pc:sldMk cId="0" sldId="256"/>
            <ac:spMk id="164" creationId="{00000000-0000-0000-0000-000000000000}"/>
          </ac:spMkLst>
        </pc:spChg>
        <pc:spChg chg="mod">
          <ac:chgData name="Hasitha Pydah" userId="7846ccb4bb5baf20" providerId="LiveId" clId="{7CAC734E-CCA5-46E4-AE9C-3EF3740C4AD6}" dt="2026-10-29T03:02:51.003" v="56" actId="20577"/>
          <ac:spMkLst>
            <pc:docMk/>
            <pc:sldMk cId="0" sldId="256"/>
            <ac:spMk id="178" creationId="{00000000-0000-0000-0000-000000000000}"/>
          </ac:spMkLst>
        </pc:spChg>
      </pc:sldChg>
      <pc:sldChg chg="modSp mod">
        <pc:chgData name="Hasitha Pydah" userId="7846ccb4bb5baf20" providerId="LiveId" clId="{7CAC734E-CCA5-46E4-AE9C-3EF3740C4AD6}" dt="2026-10-29T03:03:35.588" v="72" actId="20577"/>
        <pc:sldMkLst>
          <pc:docMk/>
          <pc:sldMk cId="3914329111" sldId="273"/>
        </pc:sldMkLst>
        <pc:spChg chg="mod">
          <ac:chgData name="Hasitha Pydah" userId="7846ccb4bb5baf20" providerId="LiveId" clId="{7CAC734E-CCA5-46E4-AE9C-3EF3740C4AD6}" dt="2026-10-29T03:03:35.588" v="72" actId="20577"/>
          <ac:spMkLst>
            <pc:docMk/>
            <pc:sldMk cId="3914329111" sldId="273"/>
            <ac:spMk id="2" creationId="{898713F8-248B-DD28-4BFE-7F31D0A8F9CD}"/>
          </ac:spMkLst>
        </pc:spChg>
      </pc:sldChg>
      <pc:sldChg chg="modSp add mod">
        <pc:chgData name="Hasitha Pydah" userId="7846ccb4bb5baf20" providerId="LiveId" clId="{7CAC734E-CCA5-46E4-AE9C-3EF3740C4AD6}" dt="2026-10-29T03:07:25.071" v="83" actId="20577"/>
        <pc:sldMkLst>
          <pc:docMk/>
          <pc:sldMk cId="1952790610" sldId="274"/>
        </pc:sldMkLst>
        <pc:spChg chg="mod">
          <ac:chgData name="Hasitha Pydah" userId="7846ccb4bb5baf20" providerId="LiveId" clId="{7CAC734E-CCA5-46E4-AE9C-3EF3740C4AD6}" dt="2026-10-29T03:07:18.120" v="80" actId="20577"/>
          <ac:spMkLst>
            <pc:docMk/>
            <pc:sldMk cId="1952790610" sldId="274"/>
            <ac:spMk id="2" creationId="{7B2775EE-F1A7-170E-00DD-D926228C1830}"/>
          </ac:spMkLst>
        </pc:spChg>
        <pc:spChg chg="mod">
          <ac:chgData name="Hasitha Pydah" userId="7846ccb4bb5baf20" providerId="LiveId" clId="{7CAC734E-CCA5-46E4-AE9C-3EF3740C4AD6}" dt="2026-10-29T03:07:25.071" v="83" actId="20577"/>
          <ac:spMkLst>
            <pc:docMk/>
            <pc:sldMk cId="1952790610" sldId="274"/>
            <ac:spMk id="3" creationId="{0F063798-7170-5FBA-7E84-EF2EB5C308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9ab78e11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9ab78e115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f9ab78e115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IN"/>
              <a:t>8</a:t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ae7f923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ae7f9231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fae7f9231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IN"/>
              <a:t>9</a:t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9ab78e115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9ab78e115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f9ab78e115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IN"/>
              <a:t>11</a:t>
            </a:fld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9ab78e11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9ab78e115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3f9ab78e115_0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IN"/>
              <a:t>18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datasetengineer/logistics-vehicle-maintenance-history-datase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s://www.kaggle.com/datasets/kundanbedmutha/delivery-logistics-dataset-india-multi-partner" TargetMode="External"/><Relationship Id="rId4" Type="http://schemas.openxmlformats.org/officeDocument/2006/relationships/hyperlink" Target="https://www.kaggle.com/datasets/yogape/logistics-operations-databas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/>
        </p:nvSpPr>
        <p:spPr>
          <a:xfrm>
            <a:off x="2995612" y="2868213"/>
            <a:ext cx="6200700" cy="49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IN" sz="2000" b="1" i="0" u="none" strike="noStrike" cap="none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165" name="Google Shape;165;p25"/>
          <p:cNvGraphicFramePr/>
          <p:nvPr/>
        </p:nvGraphicFramePr>
        <p:xfrm>
          <a:off x="8610596" y="4360484"/>
          <a:ext cx="3702050" cy="2193825"/>
        </p:xfrm>
        <a:graphic>
          <a:graphicData uri="http://schemas.openxmlformats.org/drawingml/2006/table">
            <a:tbl>
              <a:tblPr firstRow="1" bandRow="1">
                <a:noFill/>
                <a:tableStyleId>{1872637C-6261-40BA-B51D-BEFA21951C8F}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3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600"/>
                        <a:buFont typeface="Times New Roman" panose="02020603050405020304"/>
                        <a:buNone/>
                      </a:pPr>
                      <a:r>
                        <a:rPr lang="en-IN" sz="1600" b="1" u="none" strike="noStrike" cap="none">
                          <a:solidFill>
                            <a:srgbClr val="C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Team Members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Name L. Suvarcha</a:t>
                      </a:r>
                      <a:r>
                        <a:rPr lang="en-IN" sz="16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la </a:t>
                      </a:r>
                      <a:r>
                        <a:rPr lang="en-IN" sz="1600" b="1" u="none" strike="noStrike" cap="none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Mrudani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IN" sz="1400" b="1" u="none" strike="noStrike" cap="none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Roll Number 2420030591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IN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Name P.Hasitha Sai Keerthana</a:t>
                      </a:r>
                      <a:endParaRPr b="1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IN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Roll Number 2420090107</a:t>
                      </a:r>
                      <a:endParaRPr b="1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IN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Name C.Suma Priya Varma</a:t>
                      </a:r>
                      <a:endParaRPr b="1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IN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Roll Number 2420030337 </a:t>
                      </a:r>
                      <a:endParaRPr b="1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6" name="Google Shape;166;p25"/>
          <p:cNvGrpSpPr/>
          <p:nvPr/>
        </p:nvGrpSpPr>
        <p:grpSpPr>
          <a:xfrm>
            <a:off x="8386904" y="4159465"/>
            <a:ext cx="307843" cy="280931"/>
            <a:chOff x="1510710" y="1589091"/>
            <a:chExt cx="307843" cy="280931"/>
          </a:xfrm>
        </p:grpSpPr>
        <p:sp>
          <p:nvSpPr>
            <p:cNvPr id="167" name="Google Shape;167;p25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>
                <a:gd name="adj" fmla="val 50000"/>
              </a:avLst>
            </a:prstGeom>
            <a:solidFill>
              <a:srgbClr val="FF66FF"/>
            </a:solidFill>
            <a:ln w="19050" cap="flat" cmpd="sng">
              <a:solidFill>
                <a:srgbClr val="08283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" name="Google Shape;168;p25"/>
            <p:cNvSpPr/>
            <p:nvPr/>
          </p:nvSpPr>
          <p:spPr>
            <a:xfrm rot="-9747857">
              <a:off x="1683856" y="1639371"/>
              <a:ext cx="114245" cy="153379"/>
            </a:xfrm>
            <a:prstGeom prst="triangle">
              <a:avLst>
                <a:gd name="adj" fmla="val 50000"/>
              </a:avLst>
            </a:prstGeom>
            <a:solidFill>
              <a:srgbClr val="FF66FF"/>
            </a:solidFill>
            <a:ln w="19050" cap="flat" cmpd="sng">
              <a:solidFill>
                <a:srgbClr val="08283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aphicFrame>
        <p:nvGraphicFramePr>
          <p:cNvPr id="169" name="Google Shape;169;p25"/>
          <p:cNvGraphicFramePr/>
          <p:nvPr/>
        </p:nvGraphicFramePr>
        <p:xfrm>
          <a:off x="-795813" y="4722690"/>
          <a:ext cx="5902325" cy="1383665"/>
        </p:xfrm>
        <a:graphic>
          <a:graphicData uri="http://schemas.openxmlformats.org/drawingml/2006/table">
            <a:tbl>
              <a:tblPr firstRow="1" bandRow="1">
                <a:noFill/>
                <a:tableStyleId>{1872637C-6261-40BA-B51D-BEFA21951C8F}</a:tableStyleId>
              </a:tblPr>
              <a:tblGrid>
                <a:gridCol w="137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366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b="1">
                        <a:solidFill>
                          <a:srgbClr val="C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Under the Guidance of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10"/>
                        <a:buFont typeface="Times New Roman" panose="02020603050405020304"/>
                        <a:buNone/>
                      </a:pPr>
                      <a:r>
                        <a:rPr lang="en-IN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K.Venkateshwari</a:t>
                      </a:r>
                      <a:endParaRPr sz="1400" b="1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10"/>
                        <a:buFont typeface="Times New Roman" panose="02020603050405020304"/>
                        <a:buNone/>
                      </a:pPr>
                      <a:r>
                        <a:rPr lang="en-IN" sz="14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Department of </a:t>
                      </a:r>
                      <a:r>
                        <a:rPr lang="en-IN" sz="14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Computer Science and Engineering,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10"/>
                        <a:buFont typeface="Times New Roman" panose="02020603050405020304"/>
                        <a:buNone/>
                      </a:pPr>
                      <a:r>
                        <a:rPr lang="en-IN" sz="14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KLH CSE Bowrampet Campus</a:t>
                      </a:r>
                      <a:endParaRPr sz="14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70" name="Google Shape;170;p25"/>
          <p:cNvGrpSpPr/>
          <p:nvPr/>
        </p:nvGrpSpPr>
        <p:grpSpPr>
          <a:xfrm>
            <a:off x="385368" y="4538579"/>
            <a:ext cx="307843" cy="280931"/>
            <a:chOff x="1510710" y="1589091"/>
            <a:chExt cx="307843" cy="280931"/>
          </a:xfrm>
        </p:grpSpPr>
        <p:sp>
          <p:nvSpPr>
            <p:cNvPr id="171" name="Google Shape;171;p25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 w="19050" cap="flat" cmpd="sng">
              <a:solidFill>
                <a:srgbClr val="08283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" name="Google Shape;172;p25"/>
            <p:cNvSpPr/>
            <p:nvPr/>
          </p:nvSpPr>
          <p:spPr>
            <a:xfrm rot="-9747857">
              <a:off x="1683856" y="1639371"/>
              <a:ext cx="114245" cy="153379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 w="19050" cap="flat" cmpd="sng">
              <a:solidFill>
                <a:srgbClr val="08283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73" name="Google Shape;17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Date: 22/9/2026</a:t>
            </a:r>
            <a:endParaRPr b="1" dirty="0"/>
          </a:p>
        </p:txBody>
      </p:sp>
      <p:sp>
        <p:nvSpPr>
          <p:cNvPr id="174" name="Google Shape;17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SOA Project Review-2</a:t>
            </a:r>
          </a:p>
        </p:txBody>
      </p:sp>
      <p:sp>
        <p:nvSpPr>
          <p:cNvPr id="175" name="Google Shape;175;p25"/>
          <p:cNvSpPr/>
          <p:nvPr/>
        </p:nvSpPr>
        <p:spPr>
          <a:xfrm>
            <a:off x="638175" y="769267"/>
            <a:ext cx="10915650" cy="98564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 panose="020B0604020202020204"/>
              <a:buNone/>
            </a:pPr>
            <a:endParaRPr sz="1400" b="1" i="0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</a:pPr>
            <a:endParaRPr sz="2800" b="1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6" name="Google Shape;176;p2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 txBox="1"/>
          <p:nvPr/>
        </p:nvSpPr>
        <p:spPr>
          <a:xfrm>
            <a:off x="738187" y="810857"/>
            <a:ext cx="107157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Title</a:t>
            </a:r>
            <a:endParaRPr sz="2800" b="1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700" b="1">
                <a:solidFill>
                  <a:schemeClr val="lt1"/>
                </a:solidFill>
              </a:rPr>
              <a:t>AI-Based Smart Transport Fleet Management System</a:t>
            </a:r>
            <a:r>
              <a:rPr lang="en-IN" sz="2700">
                <a:solidFill>
                  <a:schemeClr val="lt1"/>
                </a:solidFill>
              </a:rPr>
              <a:t> </a:t>
            </a:r>
            <a:endParaRPr sz="43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738187" y="2246806"/>
            <a:ext cx="10715700" cy="582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SOA </a:t>
            </a:r>
            <a:r>
              <a:rPr lang="en-IN" sz="32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Review-3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</a:pPr>
            <a:endParaRPr sz="1200" b="0" i="0" u="none" strike="noStrike" cap="none">
              <a:solidFill>
                <a:srgbClr val="88888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</a:pPr>
            <a:endParaRPr sz="1200" b="0" i="0" u="none" strike="noStrike" cap="none">
              <a:solidFill>
                <a:srgbClr val="88888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fld>
            <a:endParaRPr sz="1200" b="0" i="0" u="none" strike="noStrike" cap="none">
              <a:solidFill>
                <a:srgbClr val="88888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3600"/>
              <a:buFont typeface="Times New Roman" panose="02020603050405020304"/>
              <a:buNone/>
            </a:pPr>
            <a:r>
              <a:rPr lang="en-IN" sz="3600" b="1" i="0" u="none" strike="noStrike" cap="none">
                <a:solidFill>
                  <a:srgbClr val="4472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 of Project Work</a:t>
            </a:r>
          </a:p>
        </p:txBody>
      </p:sp>
      <p:grpSp>
        <p:nvGrpSpPr>
          <p:cNvPr id="187" name="Google Shape;187;p26"/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88" name="Google Shape;188;p26"/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200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Challenges</a:t>
              </a: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9" name="Google Shape;189;p26"/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180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Research Objectives</a:t>
              </a: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0" name="Google Shape;190;p26"/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180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Conclusion &amp; Future Work</a:t>
              </a: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1" name="Google Shape;191;p26"/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200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References</a:t>
              </a:r>
              <a:br>
                <a:rPr lang="en-IN" sz="180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</a:br>
              <a:endParaRPr sz="1800" b="1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2" name="Google Shape;192;p26"/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1800" b="1" i="0" u="none" strike="noStrike" cap="none" dirty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Publications Details</a:t>
              </a: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100" b="1" i="0" u="none" strike="noStrike" cap="none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pic>
          <p:nvPicPr>
            <p:cNvPr id="193" name="Google Shape;193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 rot="-184243" flipH="1">
              <a:off x="8229530" y="5002476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26"/>
            <p:cNvSpPr txBox="1"/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200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Focus</a:t>
              </a: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28600" marR="0" lvl="0" indent="-68580" algn="l" rtl="0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28600" marR="0" lvl="0" indent="-68580" algn="l" rtl="0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28600" marR="0" lvl="0" indent="-76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2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5" name="Google Shape;195;p26"/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200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Introduction</a:t>
              </a: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28600" marR="0" lvl="0" indent="-68580" algn="l" rtl="0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28600" marR="0" lvl="0" indent="-68580" algn="l" rtl="0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28600" marR="0" lvl="0" indent="-76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2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pic>
          <p:nvPicPr>
            <p:cNvPr id="196" name="Google Shape;196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 rot="-184243" flipH="1">
              <a:off x="7683523" y="4358877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 rot="-184243" flipH="1">
              <a:off x="7229942" y="3813495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 rot="-184243" flipH="1">
              <a:off x="6863353" y="3200501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 rot="-184243" flipH="1">
              <a:off x="6443196" y="2766955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 rot="-184243" flipH="1">
              <a:off x="6040392" y="2252522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 rot="-184243" flipH="1">
              <a:off x="5626122" y="1721293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26"/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204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Literature Survey</a:t>
              </a:r>
              <a:endParaRPr sz="204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pic>
        <p:nvPicPr>
          <p:cNvPr id="203" name="Google Shape;203;p2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</a:t>
            </a:r>
          </a:p>
        </p:txBody>
      </p:sp>
      <p:pic>
        <p:nvPicPr>
          <p:cNvPr id="209" name="Google Shape;209;p2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 txBox="1"/>
          <p:nvPr/>
        </p:nvSpPr>
        <p:spPr>
          <a:xfrm>
            <a:off x="314800" y="1212025"/>
            <a:ext cx="5967600" cy="50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Traditional fleet management systems mainly depend on </a:t>
            </a:r>
            <a:r>
              <a:rPr lang="en-IN" sz="1700" b="1">
                <a:solidFill>
                  <a:schemeClr val="dk1"/>
                </a:solidFill>
              </a:rPr>
              <a:t>manual decision-making and reactive management</a:t>
            </a:r>
            <a:r>
              <a:rPr lang="en-I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 b="1">
                <a:solidFill>
                  <a:schemeClr val="dk1"/>
                </a:solidFill>
              </a:rPr>
              <a:t>Unexpected vehicle breakdowns</a:t>
            </a:r>
            <a:r>
              <a:rPr lang="en-IN" sz="1700">
                <a:solidFill>
                  <a:schemeClr val="dk1"/>
                </a:solidFill>
              </a:rPr>
              <a:t> can lead to vehicle downtime and increased maintenance costs.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Inefficient </a:t>
            </a:r>
            <a:r>
              <a:rPr lang="en-IN" sz="1700" b="1">
                <a:solidFill>
                  <a:schemeClr val="dk1"/>
                </a:solidFill>
              </a:rPr>
              <a:t>vehicle allocation</a:t>
            </a:r>
            <a:r>
              <a:rPr lang="en-IN" sz="1700">
                <a:solidFill>
                  <a:schemeClr val="dk1"/>
                </a:solidFill>
              </a:rPr>
              <a:t> can result in poor fleet utilization and underutilization of available vehicles.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High and unpredictable </a:t>
            </a:r>
            <a:r>
              <a:rPr lang="en-IN" sz="1700" b="1">
                <a:solidFill>
                  <a:schemeClr val="dk1"/>
                </a:solidFill>
              </a:rPr>
              <a:t>fuel consumption</a:t>
            </a:r>
            <a:r>
              <a:rPr lang="en-IN" sz="1700">
                <a:solidFill>
                  <a:schemeClr val="dk1"/>
                </a:solidFill>
              </a:rPr>
              <a:t> can increase overall transportation and operational costs.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Inefficient </a:t>
            </a:r>
            <a:r>
              <a:rPr lang="en-IN" sz="1700" b="1">
                <a:solidFill>
                  <a:schemeClr val="dk1"/>
                </a:solidFill>
              </a:rPr>
              <a:t>route and trip planning</a:t>
            </a:r>
            <a:r>
              <a:rPr lang="en-IN" sz="1700">
                <a:solidFill>
                  <a:schemeClr val="dk1"/>
                </a:solidFill>
              </a:rPr>
              <a:t> can result in longer travel times and unnecessary fuel usage.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Existing systems often manage </a:t>
            </a:r>
            <a:r>
              <a:rPr lang="en-IN" sz="1700" b="1">
                <a:solidFill>
                  <a:schemeClr val="dk1"/>
                </a:solidFill>
              </a:rPr>
              <a:t>vehicles, drivers, trips, fuel, and maintenance separately</a:t>
            </a:r>
            <a:r>
              <a:rPr lang="en-IN" sz="1700">
                <a:solidFill>
                  <a:schemeClr val="dk1"/>
                </a:solidFill>
              </a:rPr>
              <a:t>, limiting integrated decision-making.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There is a need for an </a:t>
            </a:r>
            <a:r>
              <a:rPr lang="en-IN" sz="1700" b="1">
                <a:solidFill>
                  <a:schemeClr val="dk1"/>
                </a:solidFill>
              </a:rPr>
              <a:t>AI-powered SOA-based system</a:t>
            </a:r>
            <a:r>
              <a:rPr lang="en-IN" sz="1700">
                <a:solidFill>
                  <a:schemeClr val="dk1"/>
                </a:solidFill>
              </a:rPr>
              <a:t> that predicts risks and recommends efficient fleet decisions proactively.</a:t>
            </a:r>
            <a:endParaRPr sz="17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</a:endParaRPr>
          </a:p>
        </p:txBody>
      </p:sp>
      <p:pic>
        <p:nvPicPr>
          <p:cNvPr id="211" name="Google Shape;211;p2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364100" y="1787726"/>
            <a:ext cx="5604801" cy="29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Objectives</a:t>
            </a:r>
          </a:p>
        </p:txBody>
      </p:sp>
      <p:pic>
        <p:nvPicPr>
          <p:cNvPr id="217" name="Google Shape;217;p2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8"/>
          <p:cNvSpPr txBox="1"/>
          <p:nvPr/>
        </p:nvSpPr>
        <p:spPr>
          <a:xfrm>
            <a:off x="191275" y="1179850"/>
            <a:ext cx="6232500" cy="606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IN" sz="1300" b="1" dirty="0">
                <a:solidFill>
                  <a:schemeClr val="dk1"/>
                </a:solidFill>
              </a:rPr>
              <a:t>To improve</a:t>
            </a:r>
            <a:r>
              <a:rPr lang="en-IN" sz="1300" dirty="0">
                <a:solidFill>
                  <a:schemeClr val="dk1"/>
                </a:solidFill>
              </a:rPr>
              <a:t> fleet management efficiency by integrating vehicle, driver, trip, route, fuel, and maintenance information through a unified intelligent system.</a:t>
            </a:r>
            <a:endParaRPr sz="13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IN" sz="1300" b="1" dirty="0">
                <a:solidFill>
                  <a:schemeClr val="dk1"/>
                </a:solidFill>
              </a:rPr>
              <a:t>To leverage</a:t>
            </a:r>
            <a:r>
              <a:rPr lang="en-IN" sz="1300" dirty="0">
                <a:solidFill>
                  <a:schemeClr val="dk1"/>
                </a:solidFill>
              </a:rPr>
              <a:t> Machine Learning techniques for predictive maintenance, fuel-consumption prediction, vehicle allocation, and travel-time/route prediction.</a:t>
            </a:r>
            <a:endParaRPr sz="13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IN" sz="1300" b="1" dirty="0">
                <a:solidFill>
                  <a:schemeClr val="dk1"/>
                </a:solidFill>
              </a:rPr>
              <a:t>To enhance the existing system, we propose an AI-Based Smart Fleet Management Framework</a:t>
            </a:r>
            <a:r>
              <a:rPr lang="en-IN" sz="1300" dirty="0">
                <a:solidFill>
                  <a:schemeClr val="dk1"/>
                </a:solidFill>
              </a:rPr>
              <a:t> that integrates independent SOA-based services for intelligent and scalable fleet operations.</a:t>
            </a:r>
            <a:endParaRPr sz="13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IN" sz="1300" b="1" dirty="0">
                <a:solidFill>
                  <a:schemeClr val="dk1"/>
                </a:solidFill>
              </a:rPr>
              <a:t>To provide</a:t>
            </a:r>
            <a:r>
              <a:rPr lang="en-IN" sz="1300" dirty="0">
                <a:solidFill>
                  <a:schemeClr val="dk1"/>
                </a:solidFill>
              </a:rPr>
              <a:t> AI-assisted recommendations for selecting the most suitable vehicle and route based on vehicle condition, availability, fuel efficiency, maintenance risk, and trip requirements.</a:t>
            </a:r>
            <a:endParaRPr sz="13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IN" sz="1300" b="1" dirty="0">
                <a:solidFill>
                  <a:schemeClr val="dk1"/>
                </a:solidFill>
              </a:rPr>
              <a:t>To develop</a:t>
            </a:r>
            <a:r>
              <a:rPr lang="en-IN" sz="1300" dirty="0">
                <a:solidFill>
                  <a:schemeClr val="dk1"/>
                </a:solidFill>
              </a:rPr>
              <a:t> an SOA-based modular architecture in which vehicle, driver, trip, maintenance, route, and AI services communicate through APIs and can be independently developed, deployed, and scaled.</a:t>
            </a:r>
            <a:endParaRPr sz="13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IN" sz="1300" b="1" dirty="0">
                <a:solidFill>
                  <a:schemeClr val="dk1"/>
                </a:solidFill>
              </a:rPr>
              <a:t>To reduce</a:t>
            </a:r>
            <a:r>
              <a:rPr lang="en-IN" sz="1300" dirty="0">
                <a:solidFill>
                  <a:schemeClr val="dk1"/>
                </a:solidFill>
              </a:rPr>
              <a:t> unexpected vehicle breakdowns, fuel consumption, operational costs, and vehicle downtime through predictive and data-driven decision-making.</a:t>
            </a:r>
            <a:endParaRPr sz="13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IN" sz="1300" b="1" dirty="0">
                <a:solidFill>
                  <a:schemeClr val="dk1"/>
                </a:solidFill>
              </a:rPr>
              <a:t>To improve</a:t>
            </a:r>
            <a:r>
              <a:rPr lang="en-IN" sz="1300" dirty="0">
                <a:solidFill>
                  <a:schemeClr val="dk1"/>
                </a:solidFill>
              </a:rPr>
              <a:t> overall fleet utilization and transportation efficiency by enabling proactive planning and intelligent fleet optimization.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b="1" dirty="0">
              <a:solidFill>
                <a:schemeClr val="dk1"/>
              </a:solidFill>
            </a:endParaRPr>
          </a:p>
        </p:txBody>
      </p:sp>
      <p:pic>
        <p:nvPicPr>
          <p:cNvPr id="219" name="Google Shape;219;p28"/>
          <p:cNvPicPr preferRelativeResize="0"/>
          <p:nvPr/>
        </p:nvPicPr>
        <p:blipFill rotWithShape="1">
          <a:blip r:embed="rId4"/>
          <a:srcRect l="1420" t="20006"/>
          <a:stretch>
            <a:fillRect/>
          </a:stretch>
        </p:blipFill>
        <p:spPr>
          <a:xfrm>
            <a:off x="6221700" y="1531150"/>
            <a:ext cx="5889500" cy="379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" name="Google Shape;225;p29"/>
          <p:cNvGraphicFramePr/>
          <p:nvPr/>
        </p:nvGraphicFramePr>
        <p:xfrm>
          <a:off x="274646" y="689466"/>
          <a:ext cx="11642725" cy="5609975"/>
        </p:xfrm>
        <a:graphic>
          <a:graphicData uri="http://schemas.openxmlformats.org/drawingml/2006/table">
            <a:tbl>
              <a:tblPr firstRow="1" bandRow="1">
                <a:noFill/>
                <a:tableStyleId>{1872637C-6261-40BA-B51D-BEFA21951C8F}</a:tableStyleId>
              </a:tblPr>
              <a:tblGrid>
                <a:gridCol w="10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5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r>
                        <a:rPr lang="en-IN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Authors</a:t>
                      </a:r>
                    </a:p>
                  </a:txBody>
                  <a:tcPr marL="91450" marR="91450" marT="45725" marB="45725"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IN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Title of the Paper</a:t>
                      </a:r>
                    </a:p>
                  </a:txBody>
                  <a:tcPr marL="91450" marR="91450" marT="45725" marB="45725"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r>
                        <a:rPr lang="en-IN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Methodology</a:t>
                      </a:r>
                    </a:p>
                  </a:txBody>
                  <a:tcPr marL="91450" marR="91450" marT="45725" marB="45725"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r>
                        <a:rPr lang="en-IN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Inferences</a:t>
                      </a:r>
                    </a:p>
                  </a:txBody>
                  <a:tcPr marL="91450" marR="91450" marT="45725" marB="45725"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r>
                        <a:rPr lang="en-IN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Limitation/Future work</a:t>
                      </a:r>
                    </a:p>
                  </a:txBody>
                  <a:tcPr marL="91450" marR="91450" marT="45725" marB="45725"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Theissler et al. (2021)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Predictive maintenance enabled by machine learning: Use cases and challenges in the automotive industry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Char char="•"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ML-based predictive maintenance; supervised and deep-learning approaches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Char char="•"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ML can use vehicle operating data to predict maintenance needs and support vehicle reliability.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Arial" panose="020B0604020202020204"/>
                        <a:buChar char="•"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Requires sufficient labelled data; combining multiple data sources and improving interpretability remain challenges.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Monnerat et al. (2019)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Fleet management: A vehicle and driver assignment model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Generalized Assignment Problem; mathematical optimization and genetic-algorithm-based matheuristic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Joint vehicle-driver assignment can optimize planned trips and reduce operational costs.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Larger fleet-assignment problems become computationally challenging; heuristic approaches are needed for scalability.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Ko (2022)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Machine Learning Methods to Predict Vehicle Fuel Consumption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Linear Regression, KNN, Decision Tree, Random Forest, Gradient Boosting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Vehicle speed, acceleration and road gradient can be used as features for ML-based fuel-consumption prediction.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Prediction depends on driving and road conditions; broader real-world datasets can improve applicability.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Giannoulidis &amp; Gounaris (2023)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 context-aware unsupervised predictive maintenance solution for fleet management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Unsupervised streaming anomaly detection; proximity-based, statistical and transformer methods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Context-aware anomaly detection can support predictive maintenance in vehicle fleet environments.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Detecting failures in advance remains challenging; wider data availability and real-world validation can improve robustness.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6" name="Google Shape;226;p29"/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0064C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  <a:endParaRPr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 lang="en-IN"/>
          </a:p>
        </p:txBody>
      </p:sp>
      <p:pic>
        <p:nvPicPr>
          <p:cNvPr id="230" name="Google Shape;230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Gap Identification</a:t>
            </a:r>
          </a:p>
        </p:txBody>
      </p:sp>
      <p:pic>
        <p:nvPicPr>
          <p:cNvPr id="236" name="Google Shape;236;p3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/>
          <p:nvPr/>
        </p:nvSpPr>
        <p:spPr>
          <a:xfrm>
            <a:off x="226800" y="1318175"/>
            <a:ext cx="6096000" cy="57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chemeClr val="dk1"/>
                </a:solidFill>
              </a:rPr>
              <a:t>Problem Gap Identification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chemeClr val="dk1"/>
                </a:solidFill>
              </a:rPr>
              <a:t>Existing approaches</a:t>
            </a:r>
            <a:endParaRPr sz="1700"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Primarily focus on </a:t>
            </a:r>
            <a:r>
              <a:rPr lang="en-IN" sz="1200" b="1" dirty="0">
                <a:solidFill>
                  <a:schemeClr val="dk1"/>
                </a:solidFill>
              </a:rPr>
              <a:t>vehicle tracking, trip scheduling, and record management</a:t>
            </a:r>
            <a:r>
              <a:rPr lang="en-IN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Fleet decisions often depend on </a:t>
            </a:r>
            <a:r>
              <a:rPr lang="en-IN" sz="1200" b="1" dirty="0">
                <a:solidFill>
                  <a:schemeClr val="dk1"/>
                </a:solidFill>
              </a:rPr>
              <a:t>manual and reactive decision-making</a:t>
            </a:r>
            <a:r>
              <a:rPr lang="en-IN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Maintenance is generally performed </a:t>
            </a:r>
            <a:r>
              <a:rPr lang="en-IN" sz="1200" b="1" dirty="0">
                <a:solidFill>
                  <a:schemeClr val="dk1"/>
                </a:solidFill>
              </a:rPr>
              <a:t>after faults or breakdowns occur</a:t>
            </a:r>
            <a:r>
              <a:rPr lang="en-IN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Vehicle allocation may not jointly consider </a:t>
            </a:r>
            <a:r>
              <a:rPr lang="en-IN" sz="1200" b="1" dirty="0">
                <a:solidFill>
                  <a:schemeClr val="dk1"/>
                </a:solidFill>
              </a:rPr>
              <a:t>availability, condition, fuel efficiency, and maintenance risk</a:t>
            </a:r>
            <a:r>
              <a:rPr lang="en-IN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Fuel monitoring and route planning are often handled </a:t>
            </a:r>
            <a:r>
              <a:rPr lang="en-IN" sz="1200" b="1" dirty="0">
                <a:solidFill>
                  <a:schemeClr val="dk1"/>
                </a:solidFill>
              </a:rPr>
              <a:t>independently</a:t>
            </a:r>
            <a:r>
              <a:rPr lang="en-IN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Monolithic systems can make </a:t>
            </a:r>
            <a:r>
              <a:rPr lang="en-IN" sz="1200" b="1" dirty="0">
                <a:solidFill>
                  <a:schemeClr val="dk1"/>
                </a:solidFill>
              </a:rPr>
              <a:t>scaling, integration, and maintenance</a:t>
            </a:r>
            <a:r>
              <a:rPr lang="en-IN" sz="1200" dirty="0">
                <a:solidFill>
                  <a:schemeClr val="dk1"/>
                </a:solidFill>
              </a:rPr>
              <a:t> difficult.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Ambiguity in communication which can be overcome using </a:t>
            </a:r>
            <a:r>
              <a:rPr lang="en-IN" sz="1200" b="1" dirty="0">
                <a:solidFill>
                  <a:schemeClr val="dk1"/>
                </a:solidFill>
              </a:rPr>
              <a:t>AI integrated chatbots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chemeClr val="dk1"/>
                </a:solidFill>
              </a:rPr>
              <a:t>Identified Gap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300" dirty="0">
                <a:solidFill>
                  <a:schemeClr val="dk1"/>
                </a:solidFill>
              </a:rPr>
              <a:t>There is a need for an integrated intelligent fleet-management system that combines: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300" b="1" dirty="0">
                <a:solidFill>
                  <a:schemeClr val="dk1"/>
                </a:solidFill>
              </a:rPr>
              <a:t>AI/ML Prediction + Predictive Maintenance + Fuel Prediction + Vehicle Allocation + Route/Travel-Time Prediction + SOA </a:t>
            </a:r>
            <a:r>
              <a:rPr lang="en-IN" sz="1300" b="1" dirty="0" err="1">
                <a:solidFill>
                  <a:schemeClr val="dk1"/>
                </a:solidFill>
              </a:rPr>
              <a:t>Architecture+AI</a:t>
            </a:r>
            <a:r>
              <a:rPr lang="en-IN" sz="1300" b="1" dirty="0">
                <a:solidFill>
                  <a:schemeClr val="dk1"/>
                </a:solidFill>
              </a:rPr>
              <a:t> chatbot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pic>
        <p:nvPicPr>
          <p:cNvPr id="238" name="Google Shape;238;p3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273200" y="1984622"/>
            <a:ext cx="5564401" cy="400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Innovation, Creativity, and Novelty</a:t>
            </a:r>
          </a:p>
        </p:txBody>
      </p:sp>
      <p:pic>
        <p:nvPicPr>
          <p:cNvPr id="244" name="Google Shape;244;p3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 txBox="1"/>
          <p:nvPr/>
        </p:nvSpPr>
        <p:spPr>
          <a:xfrm>
            <a:off x="386775" y="1213675"/>
            <a:ext cx="6329700" cy="53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500" b="1">
                <a:solidFill>
                  <a:schemeClr val="dk1"/>
                </a:solidFill>
              </a:rPr>
              <a:t>1. AI-Based Vehicle Allocation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300">
                <a:solidFill>
                  <a:schemeClr val="dk1"/>
                </a:solidFill>
              </a:rPr>
              <a:t>The system recommends the most suitable vehicle for each trip by considering: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Vehicle availability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Vehicle condition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Fuel efficiency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Maintenance risk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Trip requirements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500" b="1">
                <a:solidFill>
                  <a:schemeClr val="dk1"/>
                </a:solidFill>
              </a:rPr>
              <a:t>2. Predictive Fleet Intelligence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300">
                <a:solidFill>
                  <a:schemeClr val="dk1"/>
                </a:solidFill>
              </a:rPr>
              <a:t>Machine Learning predicts important fleet parameters such as: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Maintenance requirements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Fuel consumption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Travel time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Route efficiency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500" b="1">
                <a:solidFill>
                  <a:schemeClr val="dk1"/>
                </a:solidFill>
              </a:rPr>
              <a:t>3. Integrated SOA-Based Fleet Optimization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Instead of managing fleet operations separately, the system integrates </a:t>
            </a:r>
            <a:r>
              <a:rPr lang="en-IN" sz="1300" b="1">
                <a:solidFill>
                  <a:schemeClr val="dk1"/>
                </a:solidFill>
              </a:rPr>
              <a:t>vehicle, driver, trip, route, maintenance, and AI services</a:t>
            </a:r>
            <a:r>
              <a:rPr lang="en-IN" sz="1300">
                <a:solidFill>
                  <a:schemeClr val="dk1"/>
                </a:solidFill>
              </a:rPr>
              <a:t> through APIs to provide intelligent and scalable fleet-management decisions.</a:t>
            </a:r>
            <a:endParaRPr sz="1500" b="1">
              <a:solidFill>
                <a:schemeClr val="dk1"/>
              </a:solidFill>
            </a:endParaRPr>
          </a:p>
        </p:txBody>
      </p:sp>
      <p:pic>
        <p:nvPicPr>
          <p:cNvPr id="246" name="Google Shape;246;p3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393400" y="1800375"/>
            <a:ext cx="5585600" cy="40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/>
        </p:nvSpPr>
        <p:spPr>
          <a:xfrm>
            <a:off x="313475" y="797450"/>
            <a:ext cx="7089600" cy="6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2200" b="1">
                <a:solidFill>
                  <a:schemeClr val="dk1"/>
                </a:solidFill>
              </a:rPr>
              <a:t>4. Intelligent Route &amp; Travel-Time Prediction</a:t>
            </a:r>
            <a:endParaRPr sz="2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2000">
                <a:solidFill>
                  <a:schemeClr val="dk1"/>
                </a:solidFill>
              </a:rPr>
              <a:t>Uses historical and operational data to predict travel time and recommend efficient routes for planned trips.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2200" b="1">
                <a:solidFill>
                  <a:schemeClr val="dk1"/>
                </a:solidFill>
              </a:rPr>
              <a:t>5. Integrated Fleet Decision-Making</a:t>
            </a:r>
            <a:endParaRPr sz="2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2000">
                <a:solidFill>
                  <a:schemeClr val="dk1"/>
                </a:solidFill>
              </a:rPr>
              <a:t>Combines vehicle, driver, trip, maintenance, fuel, and route information to provide data-driven fleet management decisions.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2200" b="1">
                <a:solidFill>
                  <a:schemeClr val="dk1"/>
                </a:solidFill>
              </a:rPr>
              <a:t>6. SOA-Based Modular Architecture</a:t>
            </a:r>
            <a:endParaRPr sz="2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2000">
                <a:solidFill>
                  <a:schemeClr val="dk1"/>
                </a:solidFill>
              </a:rPr>
              <a:t>Implements independent services communicating through APIs, allowing vehicle, driver, trip, route, maintenance, and AI services to be developed, deployed, and scaled independently.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3700" b="1">
              <a:solidFill>
                <a:schemeClr val="dk1"/>
              </a:solidFill>
            </a:endParaRPr>
          </a:p>
        </p:txBody>
      </p:sp>
      <p:pic>
        <p:nvPicPr>
          <p:cNvPr id="253" name="Google Shape;253;p3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645800" y="152400"/>
            <a:ext cx="4383475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/>
        </p:nvSpPr>
        <p:spPr>
          <a:xfrm>
            <a:off x="243675" y="586900"/>
            <a:ext cx="6634200" cy="15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en-IN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243675" y="1345600"/>
            <a:ext cx="5958600" cy="5570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228600" lvl="0" indent="0" algn="l" rtl="0">
              <a:lnSpc>
                <a:spcPct val="122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202124"/>
                </a:solidFill>
                <a:highlight>
                  <a:srgbClr val="FFFFFF"/>
                </a:highlight>
              </a:rPr>
              <a:t>Logistics Vehicle Maintenance History Dataset </a:t>
            </a:r>
            <a:r>
              <a:rPr lang="en-IN" sz="1600" dirty="0">
                <a:solidFill>
                  <a:srgbClr val="202124"/>
                </a:solidFill>
                <a:highlight>
                  <a:srgbClr val="FFFFFF"/>
                </a:highlight>
              </a:rPr>
              <a:t>:</a:t>
            </a:r>
            <a:r>
              <a:rPr lang="en-IN" u="sng" dirty="0">
                <a:solidFill>
                  <a:schemeClr val="hlink"/>
                </a:solidFill>
                <a:hlinkClick r:id="rId3"/>
              </a:rPr>
              <a:t>https://www.kaggle.com/datasets/datasetengineer/logistics-vehicle-maintenance-history-dataset</a:t>
            </a:r>
            <a:endParaRPr lang="en-IN" u="sng" dirty="0">
              <a:solidFill>
                <a:schemeClr val="hlink"/>
              </a:solidFill>
            </a:endParaRPr>
          </a:p>
          <a:p>
            <a:pPr marL="285750" marR="228600" lvl="0" indent="-285750">
              <a:spcBef>
                <a:spcPts val="1700"/>
              </a:spcBef>
              <a:buFont typeface="Arial" panose="020B0604020202020204" pitchFamily="34" charset="0"/>
              <a:buChar char="•"/>
            </a:pPr>
            <a:r>
              <a:rPr lang="en-IN" dirty="0"/>
              <a:t>Used for predictive maintenance and identifying potential maintenance requirements from historical vehicle data.</a:t>
            </a:r>
            <a:endParaRPr lang="en-IN" u="sng" dirty="0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202124"/>
                </a:solidFill>
                <a:highlight>
                  <a:srgbClr val="FFFFFF"/>
                </a:highlight>
              </a:rPr>
              <a:t>Logistics Operations Database: </a:t>
            </a:r>
            <a:r>
              <a:rPr lang="en-IN" u="sng" dirty="0">
                <a:solidFill>
                  <a:schemeClr val="hlink"/>
                </a:solidFill>
                <a:hlinkClick r:id="rId4"/>
              </a:rPr>
              <a:t>https://www.kaggle.com/datasets/yogape/logistics-operations-database</a:t>
            </a:r>
            <a:endParaRPr lang="en-IN" u="sng" dirty="0">
              <a:solidFill>
                <a:schemeClr val="hlink"/>
              </a:solidFill>
            </a:endParaRPr>
          </a:p>
          <a:p>
            <a:pPr marL="285750" lvl="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dirty="0"/>
              <a:t>Used for vehicle, driver, trip, and operational analysis to support intelligent vehicle allocation.</a:t>
            </a:r>
            <a:endParaRPr lang="en-IN" u="sng" dirty="0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202124"/>
                </a:solidFill>
                <a:highlight>
                  <a:srgbClr val="FFFFFF"/>
                </a:highlight>
              </a:rPr>
              <a:t>Logistics Operations Database</a:t>
            </a:r>
          </a:p>
          <a:p>
            <a:pPr marL="0" lvl="0" indent="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u="sng" dirty="0">
                <a:solidFill>
                  <a:schemeClr val="hlink"/>
                </a:solidFill>
                <a:hlinkClick r:id="rId5"/>
              </a:rPr>
              <a:t>https://www.kaggle.com/datasets/kundanbedmutha/delivery-logistics-dataset-india-multi-partner</a:t>
            </a:r>
            <a:endParaRPr lang="en-IN" u="sng" dirty="0">
              <a:solidFill>
                <a:schemeClr val="hlink"/>
              </a:solidFill>
            </a:endParaRPr>
          </a:p>
          <a:p>
            <a:pPr marL="285750" lvl="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dirty="0"/>
              <a:t>Used for </a:t>
            </a:r>
            <a:r>
              <a:rPr lang="en-IN" dirty="0" err="1"/>
              <a:t>analyzing</a:t>
            </a:r>
            <a:r>
              <a:rPr lang="en-IN" dirty="0"/>
              <a:t> delivery operations and supporting route and travel-time prediction.</a:t>
            </a:r>
            <a:endParaRPr lang="en-IN" u="sng" dirty="0">
              <a:solidFill>
                <a:schemeClr val="hlink"/>
              </a:solidFill>
            </a:endParaRPr>
          </a:p>
          <a:p>
            <a:pPr marL="0" marR="228600" lvl="0" indent="0" algn="l" rtl="0">
              <a:lnSpc>
                <a:spcPct val="122000"/>
              </a:lnSpc>
              <a:spcBef>
                <a:spcPts val="1700"/>
              </a:spcBef>
              <a:spcAft>
                <a:spcPts val="1200"/>
              </a:spcAft>
              <a:buNone/>
            </a:pPr>
            <a:endParaRPr lang="en-IN" u="sng" dirty="0">
              <a:solidFill>
                <a:schemeClr val="hlink"/>
              </a:solidFill>
            </a:endParaRPr>
          </a:p>
        </p:txBody>
      </p:sp>
      <p:pic>
        <p:nvPicPr>
          <p:cNvPr id="261" name="Google Shape;261;p33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6468150" y="863900"/>
            <a:ext cx="5571000" cy="444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Feasibility and Project Plan</a:t>
            </a:r>
          </a:p>
        </p:txBody>
      </p:sp>
      <p:sp>
        <p:nvSpPr>
          <p:cNvPr id="267" name="Google Shape;267;p34"/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TIMELINE CHART FOR EACH PHASE OF YOUR PROJECT SHOULD BE THERE AFTER EXPLANATION</a:t>
            </a:r>
          </a:p>
        </p:txBody>
      </p:sp>
      <p:pic>
        <p:nvPicPr>
          <p:cNvPr id="268" name="Google Shape;268;p3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4"/>
          <p:cNvPicPr preferRelativeResize="0"/>
          <p:nvPr/>
        </p:nvPicPr>
        <p:blipFill rotWithShape="1">
          <a:blip r:embed="rId4"/>
          <a:srcRect l="729" t="1295" r="798" b="1315"/>
          <a:stretch>
            <a:fillRect/>
          </a:stretch>
        </p:blipFill>
        <p:spPr>
          <a:xfrm>
            <a:off x="88600" y="88600"/>
            <a:ext cx="12005925" cy="667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99525" y="0"/>
            <a:ext cx="10214051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Implemetation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IN" dirty="0"/>
              <a:t>Developed a role-based web interface for Manager, Driver, and User. </a:t>
            </a:r>
          </a:p>
          <a:p>
            <a:pPr lvl="0"/>
            <a:r>
              <a:rPr lang="en-IN" dirty="0"/>
              <a:t>Provides dashboards for vehicle, driver, trip, maintenance, fuel, and route information. </a:t>
            </a:r>
          </a:p>
          <a:p>
            <a:pPr lvl="0"/>
            <a:r>
              <a:rPr lang="en-IN" dirty="0"/>
              <a:t>Integrates backend services through APIs following the SOA architecture. </a:t>
            </a:r>
          </a:p>
          <a:p>
            <a:pPr lvl="0"/>
            <a:r>
              <a:rPr lang="en-IN" dirty="0"/>
              <a:t>Displays AI/ML predictions and vehicle-allocation recommendations. </a:t>
            </a:r>
          </a:p>
          <a:p>
            <a:pPr lvl="0"/>
            <a:r>
              <a:rPr lang="en-IN" dirty="0"/>
              <a:t>Provides route and travel-time prediction results for planned trips. </a:t>
            </a:r>
          </a:p>
          <a:p>
            <a:pPr lvl="0"/>
            <a:r>
              <a:rPr lang="en-IN" dirty="0"/>
              <a:t>Includes an AI chatbot for natural-language interaction and easier access to fleet information. </a:t>
            </a:r>
          </a:p>
          <a:p>
            <a:pPr lvl="0"/>
            <a:r>
              <a:rPr lang="en-IN" dirty="0"/>
              <a:t>Designed with a modular structure so individual services can be integrated and updated independently.</a:t>
            </a:r>
          </a:p>
          <a:p>
            <a:endParaRPr lang="en-US" dirty="0"/>
          </a:p>
        </p:txBody>
      </p:sp>
      <p:pic>
        <p:nvPicPr>
          <p:cNvPr id="6" name="Google Shape;176;p25">
            <a:extLst>
              <a:ext uri="{FF2B5EF4-FFF2-40B4-BE49-F238E27FC236}">
                <a16:creationId xmlns:a16="http://schemas.microsoft.com/office/drawing/2014/main" id="{3DA67613-EBCA-54A2-C0F9-737333C2006E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AA9DB-2F9E-BD7F-ECB1-0D7343C2E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775EE-F1A7-170E-00DD-D926228C1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Implemetation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63798-7170-5FBA-7E84-EF2EB5C30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IN" b="1"/>
              <a:t>Microservices </a:t>
            </a:r>
            <a:r>
              <a:rPr lang="en-IN" b="1" dirty="0"/>
              <a:t>Architecture:</a:t>
            </a:r>
            <a:r>
              <a:rPr lang="en-IN" dirty="0"/>
              <a:t> Developed modular services for shipment management, vehicle allocation, and delivery tracking.</a:t>
            </a:r>
          </a:p>
          <a:p>
            <a:pPr lvl="0"/>
            <a:r>
              <a:rPr lang="en-IN" b="1" dirty="0"/>
              <a:t>Machine Learning Integration:</a:t>
            </a:r>
            <a:r>
              <a:rPr lang="en-IN" dirty="0"/>
              <a:t> Used machine learning algorithms for fuel consumption estimation based on vehicle and trip-related parameters.</a:t>
            </a:r>
          </a:p>
          <a:p>
            <a:pPr lvl="0"/>
            <a:r>
              <a:rPr lang="en-IN" b="1" dirty="0"/>
              <a:t>Route Optimization:</a:t>
            </a:r>
            <a:r>
              <a:rPr lang="en-IN" dirty="0"/>
              <a:t> Supported efficient transport planning by considering route distance and vehicle requirements.</a:t>
            </a:r>
          </a:p>
          <a:p>
            <a:pPr lvl="0"/>
            <a:r>
              <a:rPr lang="en-IN" b="1" dirty="0"/>
              <a:t>REST API Integration:</a:t>
            </a:r>
            <a:r>
              <a:rPr lang="en-IN" dirty="0"/>
              <a:t> Connected backend services with the React frontend for seamless data exchange.</a:t>
            </a:r>
          </a:p>
          <a:p>
            <a:pPr lvl="0"/>
            <a:r>
              <a:rPr lang="en-IN" b="1" dirty="0"/>
              <a:t>Database Management:</a:t>
            </a:r>
            <a:r>
              <a:rPr lang="en-IN" dirty="0"/>
              <a:t> Managed shipment, vehicle, and user information for logistics operations.</a:t>
            </a:r>
          </a:p>
          <a:p>
            <a:pPr lvl="0"/>
            <a:r>
              <a:rPr lang="en-IN" b="1" dirty="0"/>
              <a:t>Service Communication:</a:t>
            </a:r>
            <a:r>
              <a:rPr lang="en-IN" dirty="0"/>
              <a:t> Enabled coordination between services to support shipment allocation and tracking.</a:t>
            </a:r>
          </a:p>
          <a:p>
            <a:r>
              <a:rPr lang="en-IN" b="1" dirty="0"/>
              <a:t>Outcome:</a:t>
            </a:r>
            <a:r>
              <a:rPr lang="en-IN" dirty="0"/>
              <a:t> An intelligent logistics management system integrating microservices and machine learning to improve fuel estimation and transport efficiency.</a:t>
            </a:r>
          </a:p>
        </p:txBody>
      </p:sp>
      <p:pic>
        <p:nvPicPr>
          <p:cNvPr id="6" name="Google Shape;176;p25">
            <a:extLst>
              <a:ext uri="{FF2B5EF4-FFF2-40B4-BE49-F238E27FC236}">
                <a16:creationId xmlns:a16="http://schemas.microsoft.com/office/drawing/2014/main" id="{90F8D603-5CA0-D0B3-B31D-F60930D10C5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2790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40D44-0F1A-5988-2D32-77DB12ECC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713F8-248B-DD28-4BFE-7F31D0A8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Implemetation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4BE22-3B46-E403-5587-4DB4CEF80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20D9A-E9BE-991C-74BE-C840589BE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683240" cy="487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329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" y="735330"/>
            <a:ext cx="10835640" cy="53873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704850"/>
            <a:ext cx="1060704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" y="731520"/>
            <a:ext cx="108051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Thankyou</a:t>
            </a:r>
          </a:p>
        </p:txBody>
      </p:sp>
      <p:pic>
        <p:nvPicPr>
          <p:cNvPr id="282" name="Google Shape;282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8" cy="686162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6"/>
          <p:cNvSpPr/>
          <p:nvPr/>
        </p:nvSpPr>
        <p:spPr>
          <a:xfrm>
            <a:off x="741750" y="3027875"/>
            <a:ext cx="1278000" cy="108510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1253</Words>
  <Application>Microsoft Office PowerPoint</Application>
  <PresentationFormat>Widescreen</PresentationFormat>
  <Paragraphs>159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Times New Roman</vt:lpstr>
      <vt:lpstr>Play</vt:lpstr>
      <vt:lpstr>Calibri</vt:lpstr>
      <vt:lpstr>Arial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FrontEnd Implemetation</vt:lpstr>
      <vt:lpstr>BackEnd Implemetation</vt:lpstr>
      <vt:lpstr>Project Implemetation</vt:lpstr>
      <vt:lpstr>.</vt:lpstr>
      <vt:lpstr>.</vt:lpstr>
      <vt:lpstr>.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Hasitha Pydah</cp:lastModifiedBy>
  <cp:revision>2</cp:revision>
  <dcterms:created xsi:type="dcterms:W3CDTF">2026-09-21T09:21:17Z</dcterms:created>
  <dcterms:modified xsi:type="dcterms:W3CDTF">2026-10-29T03:07:27Z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A80E0FE725FC461D89A8E1AE69476667_12</vt:lpwstr>
  </property>
</Properties>
</file>