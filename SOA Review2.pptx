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60" r:id="rId2"/>
  </p:sldMasterIdLst>
  <p:notesMasterIdLst>
    <p:notesMasterId r:id="rId20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73" r:id="rId15"/>
    <p:sldId id="270" r:id="rId16"/>
    <p:sldId id="271" r:id="rId17"/>
    <p:sldId id="272" r:id="rId18"/>
    <p:sldId id="267" r:id="rId19"/>
  </p:sldIdLst>
  <p:sldSz cx="12192000" cy="6858000"/>
  <p:notesSz cx="6858000" cy="9144000"/>
  <p:embeddedFontLst>
    <p:embeddedFont>
      <p:font typeface="Play" panose="020B0604020202020204" charset="0"/>
      <p:regular r:id="rId21"/>
      <p:bold r:id="rId2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3E63153-E94F-4D41-A62A-DBE81B05E859}" v="5" dt="2026-09-22T08:16:36.11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72637C-6261-40BA-B51D-BEFA21951C8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font" Target="fonts/font1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2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sitha Pydah" userId="7846ccb4bb5baf20" providerId="LiveId" clId="{7CAC734E-CCA5-46E4-AE9C-3EF3740C4AD6}"/>
    <pc:docChg chg="undo custSel addSld modSld sldOrd">
      <pc:chgData name="Hasitha Pydah" userId="7846ccb4bb5baf20" providerId="LiveId" clId="{7CAC734E-CCA5-46E4-AE9C-3EF3740C4AD6}" dt="2026-09-22T08:21:12.954" v="54" actId="1076"/>
      <pc:docMkLst>
        <pc:docMk/>
      </pc:docMkLst>
      <pc:sldChg chg="modSp mod">
        <pc:chgData name="Hasitha Pydah" userId="7846ccb4bb5baf20" providerId="LiveId" clId="{7CAC734E-CCA5-46E4-AE9C-3EF3740C4AD6}" dt="2026-09-22T08:09:33.029" v="24" actId="20577"/>
        <pc:sldMkLst>
          <pc:docMk/>
          <pc:sldMk cId="0" sldId="256"/>
        </pc:sldMkLst>
        <pc:spChg chg="mod">
          <ac:chgData name="Hasitha Pydah" userId="7846ccb4bb5baf20" providerId="LiveId" clId="{7CAC734E-CCA5-46E4-AE9C-3EF3740C4AD6}" dt="2026-09-22T08:09:33.029" v="24" actId="20577"/>
          <ac:spMkLst>
            <pc:docMk/>
            <pc:sldMk cId="0" sldId="256"/>
            <ac:spMk id="164" creationId="{00000000-0000-0000-0000-000000000000}"/>
          </ac:spMkLst>
        </pc:spChg>
        <pc:spChg chg="mod">
          <ac:chgData name="Hasitha Pydah" userId="7846ccb4bb5baf20" providerId="LiveId" clId="{7CAC734E-CCA5-46E4-AE9C-3EF3740C4AD6}" dt="2026-09-22T07:57:59.476" v="14" actId="20577"/>
          <ac:spMkLst>
            <pc:docMk/>
            <pc:sldMk cId="0" sldId="256"/>
            <ac:spMk id="173" creationId="{00000000-0000-0000-0000-000000000000}"/>
          </ac:spMkLst>
        </pc:spChg>
      </pc:sldChg>
      <pc:sldChg chg="addSp delSp mod">
        <pc:chgData name="Hasitha Pydah" userId="7846ccb4bb5baf20" providerId="LiveId" clId="{7CAC734E-CCA5-46E4-AE9C-3EF3740C4AD6}" dt="2026-09-22T08:20:03.323" v="52" actId="22"/>
        <pc:sldMkLst>
          <pc:docMk/>
          <pc:sldMk cId="0" sldId="257"/>
        </pc:sldMkLst>
        <pc:spChg chg="add del">
          <ac:chgData name="Hasitha Pydah" userId="7846ccb4bb5baf20" providerId="LiveId" clId="{7CAC734E-CCA5-46E4-AE9C-3EF3740C4AD6}" dt="2026-09-22T08:20:03.323" v="52" actId="22"/>
          <ac:spMkLst>
            <pc:docMk/>
            <pc:sldMk cId="0" sldId="257"/>
            <ac:spMk id="3" creationId="{4D1AD22A-879A-7A95-7A0F-33DA5DF5706F}"/>
          </ac:spMkLst>
        </pc:spChg>
      </pc:sldChg>
      <pc:sldChg chg="modSp mod">
        <pc:chgData name="Hasitha Pydah" userId="7846ccb4bb5baf20" providerId="LiveId" clId="{7CAC734E-CCA5-46E4-AE9C-3EF3740C4AD6}" dt="2026-09-22T07:55:49.036" v="1" actId="12"/>
        <pc:sldMkLst>
          <pc:docMk/>
          <pc:sldMk cId="0" sldId="259"/>
        </pc:sldMkLst>
        <pc:spChg chg="mod">
          <ac:chgData name="Hasitha Pydah" userId="7846ccb4bb5baf20" providerId="LiveId" clId="{7CAC734E-CCA5-46E4-AE9C-3EF3740C4AD6}" dt="2026-09-22T07:55:49.036" v="1" actId="12"/>
          <ac:spMkLst>
            <pc:docMk/>
            <pc:sldMk cId="0" sldId="259"/>
            <ac:spMk id="218" creationId="{00000000-0000-0000-0000-000000000000}"/>
          </ac:spMkLst>
        </pc:spChg>
      </pc:sldChg>
      <pc:sldChg chg="modSp mod">
        <pc:chgData name="Hasitha Pydah" userId="7846ccb4bb5baf20" providerId="LiveId" clId="{7CAC734E-CCA5-46E4-AE9C-3EF3740C4AD6}" dt="2026-09-22T08:17:41.013" v="50" actId="20577"/>
        <pc:sldMkLst>
          <pc:docMk/>
          <pc:sldMk cId="0" sldId="264"/>
        </pc:sldMkLst>
        <pc:spChg chg="mod">
          <ac:chgData name="Hasitha Pydah" userId="7846ccb4bb5baf20" providerId="LiveId" clId="{7CAC734E-CCA5-46E4-AE9C-3EF3740C4AD6}" dt="2026-09-22T08:17:14.689" v="49" actId="2711"/>
          <ac:spMkLst>
            <pc:docMk/>
            <pc:sldMk cId="0" sldId="264"/>
            <ac:spMk id="259" creationId="{00000000-0000-0000-0000-000000000000}"/>
          </ac:spMkLst>
        </pc:spChg>
        <pc:spChg chg="mod">
          <ac:chgData name="Hasitha Pydah" userId="7846ccb4bb5baf20" providerId="LiveId" clId="{7CAC734E-CCA5-46E4-AE9C-3EF3740C4AD6}" dt="2026-09-22T08:17:41.013" v="50" actId="20577"/>
          <ac:spMkLst>
            <pc:docMk/>
            <pc:sldMk cId="0" sldId="264"/>
            <ac:spMk id="260" creationId="{00000000-0000-0000-0000-000000000000}"/>
          </ac:spMkLst>
        </pc:spChg>
      </pc:sldChg>
      <pc:sldChg chg="addSp delSp modSp mod">
        <pc:chgData name="Hasitha Pydah" userId="7846ccb4bb5baf20" providerId="LiveId" clId="{7CAC734E-CCA5-46E4-AE9C-3EF3740C4AD6}" dt="2026-09-22T08:15:04.902" v="33" actId="22"/>
        <pc:sldMkLst>
          <pc:docMk/>
          <pc:sldMk cId="0" sldId="269"/>
        </pc:sldMkLst>
        <pc:spChg chg="mod">
          <ac:chgData name="Hasitha Pydah" userId="7846ccb4bb5baf20" providerId="LiveId" clId="{7CAC734E-CCA5-46E4-AE9C-3EF3740C4AD6}" dt="2026-09-22T08:14:10.927" v="31" actId="2711"/>
          <ac:spMkLst>
            <pc:docMk/>
            <pc:sldMk cId="0" sldId="269"/>
            <ac:spMk id="2" creationId="{00000000-0000-0000-0000-000000000000}"/>
          </ac:spMkLst>
        </pc:spChg>
        <pc:spChg chg="mod">
          <ac:chgData name="Hasitha Pydah" userId="7846ccb4bb5baf20" providerId="LiveId" clId="{7CAC734E-CCA5-46E4-AE9C-3EF3740C4AD6}" dt="2026-09-22T08:13:46.063" v="30" actId="27636"/>
          <ac:spMkLst>
            <pc:docMk/>
            <pc:sldMk cId="0" sldId="269"/>
            <ac:spMk id="3" creationId="{00000000-0000-0000-0000-000000000000}"/>
          </ac:spMkLst>
        </pc:spChg>
        <pc:picChg chg="del">
          <ac:chgData name="Hasitha Pydah" userId="7846ccb4bb5baf20" providerId="LiveId" clId="{7CAC734E-CCA5-46E4-AE9C-3EF3740C4AD6}" dt="2026-09-22T08:13:44.030" v="28" actId="478"/>
          <ac:picMkLst>
            <pc:docMk/>
            <pc:sldMk cId="0" sldId="269"/>
            <ac:picMk id="4" creationId="{00000000-0000-0000-0000-000000000000}"/>
          </ac:picMkLst>
        </pc:picChg>
        <pc:picChg chg="add">
          <ac:chgData name="Hasitha Pydah" userId="7846ccb4bb5baf20" providerId="LiveId" clId="{7CAC734E-CCA5-46E4-AE9C-3EF3740C4AD6}" dt="2026-09-22T08:15:04.902" v="33" actId="22"/>
          <ac:picMkLst>
            <pc:docMk/>
            <pc:sldMk cId="0" sldId="269"/>
            <ac:picMk id="6" creationId="{3DA67613-EBCA-54A2-C0F9-737333C2006E}"/>
          </ac:picMkLst>
        </pc:picChg>
      </pc:sldChg>
      <pc:sldChg chg="modSp add mod ord">
        <pc:chgData name="Hasitha Pydah" userId="7846ccb4bb5baf20" providerId="LiveId" clId="{7CAC734E-CCA5-46E4-AE9C-3EF3740C4AD6}" dt="2026-09-22T08:21:12.954" v="54" actId="1076"/>
        <pc:sldMkLst>
          <pc:docMk/>
          <pc:sldMk cId="3914329111" sldId="273"/>
        </pc:sldMkLst>
        <pc:spChg chg="mod">
          <ac:chgData name="Hasitha Pydah" userId="7846ccb4bb5baf20" providerId="LiveId" clId="{7CAC734E-CCA5-46E4-AE9C-3EF3740C4AD6}" dt="2026-09-22T08:14:22.504" v="32" actId="2711"/>
          <ac:spMkLst>
            <pc:docMk/>
            <pc:sldMk cId="3914329111" sldId="273"/>
            <ac:spMk id="2" creationId="{898713F8-248B-DD28-4BFE-7F31D0A8F9CD}"/>
          </ac:spMkLst>
        </pc:spChg>
        <pc:picChg chg="mod">
          <ac:chgData name="Hasitha Pydah" userId="7846ccb4bb5baf20" providerId="LiveId" clId="{7CAC734E-CCA5-46E4-AE9C-3EF3740C4AD6}" dt="2026-09-22T08:21:12.954" v="54" actId="1076"/>
          <ac:picMkLst>
            <pc:docMk/>
            <pc:sldMk cId="3914329111" sldId="273"/>
            <ac:picMk id="4" creationId="{29A20D9A-E9BE-991C-74BE-C840589BEC52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 spc="0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1</a:t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2" name="Google Shape;22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</a:t>
            </a:fld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f9ab78e115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9" name="Google Shape;249;g3f9ab78e115_0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g3f9ab78e115_0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IN"/>
              <a:t>8</a:t>
            </a:fld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ae7f9231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6" name="Google Shape;256;g3fae7f9231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g3fae7f9231e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IN"/>
              <a:t>9</a:t>
            </a:fld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f9ab78e115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3f9ab78e115_0_4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g3f9ab78e115_0_4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IN"/>
              <a:t>11</a:t>
            </a:fld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g3f9ab78e115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8" name="Google Shape;278;g3f9ab78e115_0_5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g3f9ab78e115_0_5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buNone/>
            </a:pPr>
            <a:fld id="{00000000-1234-1234-1234-123412341234}" type="slidenum">
              <a:rPr lang="en-IN"/>
              <a:t>17</a:t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 panose="00000500000000000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 panose="00000500000000000000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97" name="Google Shape;97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6" name="Google Shape;126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2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22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44" name="Google Shape;144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5" name="Google Shape;145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3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0" name="Google Shape;150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4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4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7" name="Google Shape;157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8" name="Google Shape;158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 panose="00000500000000000000"/>
              <a:buNone/>
              <a:defRPr sz="4400" b="0" i="0" u="none" strike="noStrike" cap="none">
                <a:solidFill>
                  <a:schemeClr val="dk1"/>
                </a:solidFill>
                <a:latin typeface="Play" panose="00000500000000000000"/>
                <a:ea typeface="Play" panose="00000500000000000000"/>
                <a:cs typeface="Play" panose="00000500000000000000"/>
                <a:sym typeface="Play" panose="00000500000000000000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6" name="Google Shape;86;p1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 lang="en-I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 spc="0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aggle.com/datasets/datasetengineer/logistics-vehicle-maintenance-history-datase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hyperlink" Target="https://www.kaggle.com/datasets/kundanbedmutha/delivery-logistics-dataset-india-multi-partner" TargetMode="External"/><Relationship Id="rId4" Type="http://schemas.openxmlformats.org/officeDocument/2006/relationships/hyperlink" Target="https://www.kaggle.com/datasets/yogape/logistics-operations-database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/>
        </p:nvSpPr>
        <p:spPr>
          <a:xfrm>
            <a:off x="2995612" y="2868213"/>
            <a:ext cx="6200700" cy="490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600" b="0" i="0" u="none" strike="noStrike" cap="none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 b="1" dirty="0">
                <a:solidFill>
                  <a:srgbClr val="FF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22-09-2026 </a:t>
            </a:r>
            <a:endParaRPr lang="en-IN" sz="2000" b="1" i="0" u="none" strike="noStrike" cap="none" dirty="0">
              <a:solidFill>
                <a:srgbClr val="FF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graphicFrame>
        <p:nvGraphicFramePr>
          <p:cNvPr id="165" name="Google Shape;165;p25"/>
          <p:cNvGraphicFramePr/>
          <p:nvPr/>
        </p:nvGraphicFramePr>
        <p:xfrm>
          <a:off x="8610596" y="4360484"/>
          <a:ext cx="3702050" cy="2193825"/>
        </p:xfrm>
        <a:graphic>
          <a:graphicData uri="http://schemas.openxmlformats.org/drawingml/2006/table">
            <a:tbl>
              <a:tblPr firstRow="1" bandRow="1">
                <a:noFill/>
                <a:tableStyleId>{1872637C-6261-40BA-B51D-BEFA21951C8F}</a:tableStyleId>
              </a:tblPr>
              <a:tblGrid>
                <a:gridCol w="3702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93825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00000"/>
                        </a:buClr>
                        <a:buSzPts val="1600"/>
                        <a:buFont typeface="Times New Roman" panose="02020603050405020304"/>
                        <a:buNone/>
                      </a:pPr>
                      <a:r>
                        <a:rPr lang="en-IN" sz="1600" b="1" u="none" strike="noStrike" cap="none">
                          <a:solidFill>
                            <a:srgbClr val="C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Team Members</a:t>
                      </a: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 u="none" strike="noStrike" cap="none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Name L. Suvarcha</a:t>
                      </a:r>
                      <a:r>
                        <a:rPr lang="en-IN" sz="16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la </a:t>
                      </a:r>
                      <a:r>
                        <a:rPr lang="en-IN" sz="1600" b="1" u="none" strike="noStrike" cap="none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Mrudani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 panose="02020603050405020304"/>
                        <a:buNone/>
                      </a:pPr>
                      <a:r>
                        <a:rPr lang="en-IN" sz="1400" b="1" u="none" strike="noStrike" cap="none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Roll Number 2420030591</a:t>
                      </a:r>
                      <a:endParaRPr sz="1400" b="1" u="none" strike="noStrike" cap="none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 panose="02020603050405020304"/>
                        <a:buNone/>
                      </a:pPr>
                      <a:endParaRPr b="1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 panose="02020603050405020304"/>
                        <a:buNone/>
                      </a:pPr>
                      <a:r>
                        <a:rPr lang="en-IN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Name P.Hasitha Sai Keerthana</a:t>
                      </a:r>
                      <a:endParaRPr b="1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 panose="02020603050405020304"/>
                        <a:buNone/>
                      </a:pPr>
                      <a:r>
                        <a:rPr lang="en-IN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Roll Number 2420090107</a:t>
                      </a:r>
                      <a:endParaRPr b="1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 panose="02020603050405020304"/>
                        <a:buNone/>
                      </a:pPr>
                      <a:endParaRPr b="1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 panose="02020603050405020304"/>
                        <a:buNone/>
                      </a:pPr>
                      <a:r>
                        <a:rPr lang="en-IN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Name C.Suma Priya Varma</a:t>
                      </a:r>
                      <a:endParaRPr b="1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 panose="02020603050405020304"/>
                        <a:buNone/>
                      </a:pPr>
                      <a:r>
                        <a:rPr lang="en-IN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Roll Number 2420030337 </a:t>
                      </a:r>
                      <a:endParaRPr b="1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66" name="Google Shape;166;p25"/>
          <p:cNvGrpSpPr/>
          <p:nvPr/>
        </p:nvGrpSpPr>
        <p:grpSpPr>
          <a:xfrm>
            <a:off x="8386904" y="4159465"/>
            <a:ext cx="307843" cy="280931"/>
            <a:chOff x="1510710" y="1589091"/>
            <a:chExt cx="307843" cy="280931"/>
          </a:xfrm>
        </p:grpSpPr>
        <p:sp>
          <p:nvSpPr>
            <p:cNvPr id="167" name="Google Shape;167;p25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>
                <a:gd name="adj" fmla="val 50000"/>
              </a:avLst>
            </a:prstGeom>
            <a:solidFill>
              <a:srgbClr val="FF66FF"/>
            </a:solidFill>
            <a:ln w="19050" cap="flat" cmpd="sng">
              <a:solidFill>
                <a:srgbClr val="08283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68" name="Google Shape;168;p25"/>
            <p:cNvSpPr/>
            <p:nvPr/>
          </p:nvSpPr>
          <p:spPr>
            <a:xfrm rot="-9747857">
              <a:off x="1683856" y="1639371"/>
              <a:ext cx="114245" cy="153379"/>
            </a:xfrm>
            <a:prstGeom prst="triangle">
              <a:avLst>
                <a:gd name="adj" fmla="val 50000"/>
              </a:avLst>
            </a:prstGeom>
            <a:solidFill>
              <a:srgbClr val="FF66FF"/>
            </a:solidFill>
            <a:ln w="19050" cap="flat" cmpd="sng">
              <a:solidFill>
                <a:srgbClr val="08283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graphicFrame>
        <p:nvGraphicFramePr>
          <p:cNvPr id="169" name="Google Shape;169;p25"/>
          <p:cNvGraphicFramePr/>
          <p:nvPr/>
        </p:nvGraphicFramePr>
        <p:xfrm>
          <a:off x="-795813" y="4722690"/>
          <a:ext cx="5902325" cy="1383665"/>
        </p:xfrm>
        <a:graphic>
          <a:graphicData uri="http://schemas.openxmlformats.org/drawingml/2006/table">
            <a:tbl>
              <a:tblPr firstRow="1" bandRow="1">
                <a:noFill/>
                <a:tableStyleId>{1872637C-6261-40BA-B51D-BEFA21951C8F}</a:tableStyleId>
              </a:tblPr>
              <a:tblGrid>
                <a:gridCol w="1373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28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38366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25" marB="45725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500" b="1">
                        <a:solidFill>
                          <a:srgbClr val="C0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600" b="1">
                          <a:solidFill>
                            <a:srgbClr val="C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Under the Guidance of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10"/>
                        <a:buFont typeface="Times New Roman" panose="02020603050405020304"/>
                        <a:buNone/>
                      </a:pPr>
                      <a:r>
                        <a:rPr lang="en-IN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K.Venkateshwari</a:t>
                      </a:r>
                      <a:endParaRPr sz="1400" b="1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10"/>
                        <a:buFont typeface="Times New Roman" panose="02020603050405020304"/>
                        <a:buNone/>
                      </a:pPr>
                      <a:r>
                        <a:rPr lang="en-IN" sz="1400" b="1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Department of </a:t>
                      </a:r>
                      <a:r>
                        <a:rPr lang="en-IN" sz="1400" b="1">
                          <a:solidFill>
                            <a:srgbClr val="00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Computer Science and Engineering, </a:t>
                      </a: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810"/>
                        <a:buFont typeface="Times New Roman" panose="02020603050405020304"/>
                        <a:buNone/>
                      </a:pPr>
                      <a:r>
                        <a:rPr lang="en-IN" sz="1400">
                          <a:solidFill>
                            <a:schemeClr val="dk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KLH CSE Bowrampet Campus</a:t>
                      </a:r>
                      <a:endParaRPr sz="1400">
                        <a:solidFill>
                          <a:schemeClr val="dk1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70" name="Google Shape;170;p25"/>
          <p:cNvGrpSpPr/>
          <p:nvPr/>
        </p:nvGrpSpPr>
        <p:grpSpPr>
          <a:xfrm>
            <a:off x="385368" y="4538579"/>
            <a:ext cx="307843" cy="280931"/>
            <a:chOff x="1510710" y="1589091"/>
            <a:chExt cx="307843" cy="280931"/>
          </a:xfrm>
        </p:grpSpPr>
        <p:sp>
          <p:nvSpPr>
            <p:cNvPr id="171" name="Google Shape;171;p25"/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 w="19050" cap="flat" cmpd="sng">
              <a:solidFill>
                <a:srgbClr val="08283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highlight>
                  <a:srgbClr val="FFFF00"/>
                </a:highlight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  <p:sp>
          <p:nvSpPr>
            <p:cNvPr id="172" name="Google Shape;172;p25"/>
            <p:cNvSpPr/>
            <p:nvPr/>
          </p:nvSpPr>
          <p:spPr>
            <a:xfrm rot="-9747857">
              <a:off x="1683856" y="1639371"/>
              <a:ext cx="114245" cy="153379"/>
            </a:xfrm>
            <a:prstGeom prst="triangle">
              <a:avLst>
                <a:gd name="adj" fmla="val 50000"/>
              </a:avLst>
            </a:prstGeom>
            <a:solidFill>
              <a:srgbClr val="00B0F0"/>
            </a:solidFill>
            <a:ln w="19050" cap="flat" cmpd="sng">
              <a:solidFill>
                <a:srgbClr val="082836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endParaRPr>
            </a:p>
          </p:txBody>
        </p:sp>
      </p:grpSp>
      <p:sp>
        <p:nvSpPr>
          <p:cNvPr id="173" name="Google Shape;173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/>
              <a:t>Date: 22/9/2026</a:t>
            </a:r>
            <a:endParaRPr b="1" dirty="0"/>
          </a:p>
        </p:txBody>
      </p:sp>
      <p:sp>
        <p:nvSpPr>
          <p:cNvPr id="174" name="Google Shape;174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b="1" dirty="0"/>
              <a:t>SOA Project Review-2</a:t>
            </a:r>
          </a:p>
        </p:txBody>
      </p:sp>
      <p:sp>
        <p:nvSpPr>
          <p:cNvPr id="175" name="Google Shape;175;p25"/>
          <p:cNvSpPr/>
          <p:nvPr/>
        </p:nvSpPr>
        <p:spPr>
          <a:xfrm>
            <a:off x="638175" y="769267"/>
            <a:ext cx="10915650" cy="985640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 w="19050" cap="flat" cmpd="sng">
            <a:solidFill>
              <a:srgbClr val="082836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 panose="020B0604020202020204"/>
              <a:buNone/>
            </a:pPr>
            <a:endParaRPr sz="1400" b="1" i="0" u="none" strike="noStrike" cap="none">
              <a:solidFill>
                <a:srgbClr val="C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 panose="020B0604020202020204"/>
              <a:buNone/>
            </a:pPr>
            <a:endParaRPr sz="2800" b="1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176" name="Google Shape;176;p2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25"/>
          <p:cNvSpPr txBox="1"/>
          <p:nvPr/>
        </p:nvSpPr>
        <p:spPr>
          <a:xfrm>
            <a:off x="738187" y="810857"/>
            <a:ext cx="107157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i="0" u="none" strike="noStrike" cap="none">
                <a:solidFill>
                  <a:schemeClr val="lt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Project Title</a:t>
            </a:r>
            <a:endParaRPr sz="2800" b="1" i="0" u="none" strike="noStrike" cap="none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700" b="1">
                <a:solidFill>
                  <a:schemeClr val="lt1"/>
                </a:solidFill>
              </a:rPr>
              <a:t>AI-Based Smart Transport Fleet Management System</a:t>
            </a:r>
            <a:r>
              <a:rPr lang="en-IN" sz="2700">
                <a:solidFill>
                  <a:schemeClr val="lt1"/>
                </a:solidFill>
              </a:rPr>
              <a:t> </a:t>
            </a:r>
            <a:endParaRPr sz="4300" b="1">
              <a:solidFill>
                <a:schemeClr val="lt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8" name="Google Shape;178;p25"/>
          <p:cNvSpPr txBox="1"/>
          <p:nvPr/>
        </p:nvSpPr>
        <p:spPr>
          <a:xfrm>
            <a:off x="738187" y="2246806"/>
            <a:ext cx="10715700" cy="5822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200" b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SOA </a:t>
            </a:r>
            <a:r>
              <a:rPr lang="en-IN" sz="3200" b="1" i="0" u="none" strike="noStrike" cap="none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Project Review-2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</a:pPr>
            <a:endParaRPr sz="1200" b="0" i="0" u="none" strike="noStrike" cap="none">
              <a:solidFill>
                <a:srgbClr val="88888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4" name="Google Shape;184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</a:pPr>
            <a:endParaRPr sz="1200" b="0" i="0" u="none" strike="noStrike" cap="none">
              <a:solidFill>
                <a:srgbClr val="88888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5" name="Google Shape;185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 panose="020F0502020204030204"/>
              <a:buNone/>
            </a:pPr>
            <a:fld id="{00000000-1234-1234-1234-123412341234}" type="slidenum">
              <a:rPr lang="en-IN"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2</a:t>
            </a:fld>
            <a:endParaRPr sz="1200" b="0" i="0" u="none" strike="noStrike" cap="none">
              <a:solidFill>
                <a:srgbClr val="888888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  <p:sp>
        <p:nvSpPr>
          <p:cNvPr id="186" name="Google Shape;186;p26"/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472C4"/>
              </a:buClr>
              <a:buSzPts val="3600"/>
              <a:buFont typeface="Times New Roman" panose="02020603050405020304"/>
              <a:buNone/>
            </a:pPr>
            <a:r>
              <a:rPr lang="en-IN" sz="3600" b="1" i="0" u="none" strike="noStrike" cap="none">
                <a:solidFill>
                  <a:srgbClr val="4472C4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Outline of Project Work</a:t>
            </a:r>
          </a:p>
        </p:txBody>
      </p:sp>
      <p:grpSp>
        <p:nvGrpSpPr>
          <p:cNvPr id="187" name="Google Shape;187;p26"/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88" name="Google Shape;188;p26"/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rgbClr val="3F3F3F"/>
            </a:solidFill>
            <a:ln w="19050" cap="flat" cmpd="sng">
              <a:solidFill>
                <a:schemeClr val="accent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430530" marR="0" lvl="0" indent="-3429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20"/>
                <a:buFont typeface="Arial" panose="020B0604020202020204"/>
                <a:buChar char="•"/>
              </a:pPr>
              <a:r>
                <a:rPr lang="en-IN" sz="2000" b="1" i="0" u="none" strike="noStrike" cap="none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Challenges</a:t>
              </a:r>
            </a:p>
            <a:p>
              <a:pPr marL="430530" marR="0" lvl="0" indent="-18288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0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89" name="Google Shape;189;p26"/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rgbClr val="3F3F3F"/>
            </a:solidFill>
            <a:ln w="19050" cap="flat" cmpd="sng">
              <a:solidFill>
                <a:schemeClr val="accent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430530" marR="0" lvl="0" indent="-3429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20"/>
                <a:buFont typeface="Arial" panose="020B0604020202020204"/>
                <a:buChar char="•"/>
              </a:pPr>
              <a:r>
                <a:rPr lang="en-IN" sz="1800" b="1" i="0" u="none" strike="noStrike" cap="none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Research Objectives</a:t>
              </a:r>
            </a:p>
            <a:p>
              <a:pPr marL="430530" marR="0" lvl="0" indent="-18288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18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90" name="Google Shape;190;p26"/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rgbClr val="3F3F3F"/>
            </a:solidFill>
            <a:ln w="19050" cap="flat" cmpd="sng">
              <a:solidFill>
                <a:schemeClr val="accent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430530" marR="0" lvl="0" indent="-3429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20"/>
                <a:buFont typeface="Arial" panose="020B0604020202020204"/>
                <a:buChar char="•"/>
              </a:pPr>
              <a:r>
                <a:rPr lang="en-IN" sz="1800" b="1" i="0" u="none" strike="noStrike" cap="none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Conclusion &amp; Future Work</a:t>
              </a:r>
            </a:p>
            <a:p>
              <a:pPr marL="430530" marR="0" lvl="0" indent="-182880" algn="l" rtl="0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18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91" name="Google Shape;191;p26"/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rgbClr val="3F3F3F"/>
            </a:solidFill>
            <a:ln w="19050" cap="flat" cmpd="sng">
              <a:solidFill>
                <a:schemeClr val="accent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430530" marR="0" lvl="0" indent="-3429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20"/>
                <a:buFont typeface="Arial" panose="020B0604020202020204"/>
                <a:buChar char="•"/>
              </a:pPr>
              <a:r>
                <a:rPr lang="en-IN" sz="2000" b="1" i="0" u="none" strike="noStrike" cap="none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References</a:t>
              </a:r>
              <a:br>
                <a:rPr lang="en-IN" sz="1800" b="1" i="0" u="none" strike="noStrike" cap="none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</a:br>
              <a:endParaRPr sz="1800" b="1" i="0" u="none" strike="noStrike" cap="none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92" name="Google Shape;192;p26"/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rgbClr val="3F3F3F"/>
            </a:solidFill>
            <a:ln w="19050" cap="flat" cmpd="sng">
              <a:solidFill>
                <a:schemeClr val="accent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430530" marR="0" lvl="0" indent="-3429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20"/>
                <a:buFont typeface="Arial" panose="020B0604020202020204"/>
                <a:buChar char="•"/>
              </a:pPr>
              <a:r>
                <a:rPr lang="en-IN" sz="1800" b="1" i="0" u="none" strike="noStrike" cap="none" dirty="0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Publications Details</a:t>
              </a:r>
            </a:p>
            <a:p>
              <a:pPr marL="430530" marR="0" lvl="0" indent="-182880" algn="l" rtl="0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100" b="1" i="0" u="none" strike="noStrike" cap="none" dirty="0">
                <a:solidFill>
                  <a:srgbClr val="FFFFFF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pic>
          <p:nvPicPr>
            <p:cNvPr id="193" name="Google Shape;193;p2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 rot="-184243" flipH="1">
              <a:off x="8229530" y="5002476"/>
              <a:ext cx="455841" cy="5362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4" name="Google Shape;194;p26"/>
            <p:cNvSpPr txBox="1"/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rgbClr val="3F3F3F"/>
            </a:solidFill>
            <a:ln w="19050" cap="flat" cmpd="sng">
              <a:solidFill>
                <a:schemeClr val="accent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rmAutofit/>
            </a:bodyPr>
            <a:lstStyle/>
            <a:p>
              <a:pPr marL="430530" marR="0" lvl="0" indent="-3429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20"/>
                <a:buFont typeface="Arial" panose="020B0604020202020204"/>
                <a:buChar char="•"/>
              </a:pPr>
              <a:r>
                <a:rPr lang="en-IN" sz="2000" b="1" i="0" u="none" strike="noStrike" cap="none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Focus</a:t>
              </a:r>
            </a:p>
            <a:p>
              <a:pPr marL="430530" marR="0" lvl="0" indent="-18288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0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430530" marR="0" lvl="0" indent="-18288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0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430530" marR="0" lvl="0" indent="-18288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0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430530" marR="0" lvl="0" indent="-18288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0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430530" marR="0" lvl="0" indent="-182880" algn="l" rtl="0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0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228600" marR="0" lvl="0" indent="-68580" algn="l" rtl="0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228600" marR="0" lvl="0" indent="-68580" algn="l" rtl="0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228600" marR="0" lvl="0" indent="-76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2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95" name="Google Shape;195;p26"/>
            <p:cNvSpPr txBox="1"/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rgbClr val="3F3F3F"/>
            </a:solidFill>
            <a:ln w="19050" cap="flat" cmpd="sng">
              <a:solidFill>
                <a:schemeClr val="accent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rmAutofit/>
            </a:bodyPr>
            <a:lstStyle/>
            <a:p>
              <a:pPr marL="430530" marR="0" lvl="0" indent="-3429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20"/>
                <a:buFont typeface="Arial" panose="020B0604020202020204"/>
                <a:buChar char="•"/>
              </a:pPr>
              <a:r>
                <a:rPr lang="en-IN" sz="2000" b="1" i="0" u="none" strike="noStrike" cap="none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Introduction</a:t>
              </a:r>
            </a:p>
            <a:p>
              <a:pPr marL="430530" marR="0" lvl="0" indent="-18288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0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430530" marR="0" lvl="0" indent="-18288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0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430530" marR="0" lvl="0" indent="-18288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0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430530" marR="0" lvl="0" indent="-18288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0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430530" marR="0" lvl="0" indent="-182880" algn="l" rtl="0">
                <a:lnSpc>
                  <a:spcPct val="150000"/>
                </a:lnSpc>
                <a:spcBef>
                  <a:spcPts val="505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00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228600" marR="0" lvl="0" indent="-68580" algn="l" rtl="0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228600" marR="0" lvl="0" indent="-68580" algn="l" rtl="0">
                <a:lnSpc>
                  <a:spcPct val="130000"/>
                </a:lnSpc>
                <a:spcBef>
                  <a:spcPts val="505"/>
                </a:spcBef>
                <a:spcAft>
                  <a:spcPts val="0"/>
                </a:spcAft>
                <a:buClr>
                  <a:schemeClr val="dk1"/>
                </a:buClr>
                <a:buSzPts val="2520"/>
                <a:buFont typeface="Arial" panose="020B0604020202020204"/>
                <a:buNone/>
              </a:pPr>
              <a:endParaRPr sz="2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  <a:p>
              <a:pPr marL="228600" marR="0" lvl="0" indent="-762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Arial" panose="020B0604020202020204"/>
                <a:buNone/>
              </a:pPr>
              <a:endParaRPr sz="24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  <p:pic>
          <p:nvPicPr>
            <p:cNvPr id="196" name="Google Shape;196;p2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 rot="-184243" flipH="1">
              <a:off x="7683523" y="4358877"/>
              <a:ext cx="455841" cy="5362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2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 rot="-184243" flipH="1">
              <a:off x="7229942" y="3813495"/>
              <a:ext cx="455841" cy="5362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8" name="Google Shape;198;p2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 rot="-184243" flipH="1">
              <a:off x="6863353" y="3200501"/>
              <a:ext cx="455841" cy="5362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2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 rot="-184243" flipH="1">
              <a:off x="6443196" y="2766955"/>
              <a:ext cx="455841" cy="5362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2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 rot="-184243" flipH="1">
              <a:off x="6040392" y="2252522"/>
              <a:ext cx="455841" cy="53628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26"/>
            <p:cNvPicPr preferRelativeResize="0"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 rot="-184243" flipH="1">
              <a:off x="5626122" y="1721293"/>
              <a:ext cx="455841" cy="53628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2" name="Google Shape;202;p26"/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rgbClr val="3F3F3F"/>
            </a:solidFill>
            <a:ln w="19050" cap="flat" cmpd="sng">
              <a:solidFill>
                <a:schemeClr val="accent4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430530" marR="0" lvl="0" indent="-34290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520"/>
                <a:buFont typeface="Arial" panose="020B0604020202020204"/>
                <a:buChar char="•"/>
              </a:pPr>
              <a:r>
                <a:rPr lang="en-IN" sz="2040" b="1" i="0" u="none" strike="noStrike" cap="none">
                  <a:solidFill>
                    <a:srgbClr val="FFFFFF"/>
                  </a:solidFill>
                  <a:latin typeface="Times New Roman" panose="02020603050405020304"/>
                  <a:ea typeface="Times New Roman" panose="02020603050405020304"/>
                  <a:cs typeface="Times New Roman" panose="02020603050405020304"/>
                  <a:sym typeface="Times New Roman" panose="02020603050405020304"/>
                </a:rPr>
                <a:t>Literature Survey</a:t>
              </a:r>
              <a:endParaRPr sz="2040" b="1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endParaRPr>
            </a:p>
          </p:txBody>
        </p:sp>
      </p:grpSp>
      <p:pic>
        <p:nvPicPr>
          <p:cNvPr id="203" name="Google Shape;203;p26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7"/>
          <p:cNvSpPr txBox="1"/>
          <p:nvPr/>
        </p:nvSpPr>
        <p:spPr>
          <a:xfrm>
            <a:off x="3991897" y="482232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Problem Statement</a:t>
            </a:r>
          </a:p>
        </p:txBody>
      </p:sp>
      <p:pic>
        <p:nvPicPr>
          <p:cNvPr id="209" name="Google Shape;209;p27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7"/>
          <p:cNvSpPr txBox="1"/>
          <p:nvPr/>
        </p:nvSpPr>
        <p:spPr>
          <a:xfrm>
            <a:off x="314800" y="1212025"/>
            <a:ext cx="5967600" cy="503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Traditional fleet management systems mainly depend on </a:t>
            </a:r>
            <a:r>
              <a:rPr lang="en-IN" sz="1700" b="1">
                <a:solidFill>
                  <a:schemeClr val="dk1"/>
                </a:solidFill>
              </a:rPr>
              <a:t>manual decision-making and reactive management</a:t>
            </a:r>
            <a:r>
              <a:rPr lang="en-IN" sz="1700">
                <a:solidFill>
                  <a:schemeClr val="dk1"/>
                </a:solidFill>
              </a:rPr>
              <a:t>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 b="1">
                <a:solidFill>
                  <a:schemeClr val="dk1"/>
                </a:solidFill>
              </a:rPr>
              <a:t>Unexpected vehicle breakdowns</a:t>
            </a:r>
            <a:r>
              <a:rPr lang="en-IN" sz="1700">
                <a:solidFill>
                  <a:schemeClr val="dk1"/>
                </a:solidFill>
              </a:rPr>
              <a:t> can lead to vehicle downtime and increased maintenance costs.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Inefficient </a:t>
            </a:r>
            <a:r>
              <a:rPr lang="en-IN" sz="1700" b="1">
                <a:solidFill>
                  <a:schemeClr val="dk1"/>
                </a:solidFill>
              </a:rPr>
              <a:t>vehicle allocation</a:t>
            </a:r>
            <a:r>
              <a:rPr lang="en-IN" sz="1700">
                <a:solidFill>
                  <a:schemeClr val="dk1"/>
                </a:solidFill>
              </a:rPr>
              <a:t> can result in poor fleet utilization and underutilization of available vehicles.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High and unpredictable </a:t>
            </a:r>
            <a:r>
              <a:rPr lang="en-IN" sz="1700" b="1">
                <a:solidFill>
                  <a:schemeClr val="dk1"/>
                </a:solidFill>
              </a:rPr>
              <a:t>fuel consumption</a:t>
            </a:r>
            <a:r>
              <a:rPr lang="en-IN" sz="1700">
                <a:solidFill>
                  <a:schemeClr val="dk1"/>
                </a:solidFill>
              </a:rPr>
              <a:t> can increase overall transportation and operational costs.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Inefficient </a:t>
            </a:r>
            <a:r>
              <a:rPr lang="en-IN" sz="1700" b="1">
                <a:solidFill>
                  <a:schemeClr val="dk1"/>
                </a:solidFill>
              </a:rPr>
              <a:t>route and trip planning</a:t>
            </a:r>
            <a:r>
              <a:rPr lang="en-IN" sz="1700">
                <a:solidFill>
                  <a:schemeClr val="dk1"/>
                </a:solidFill>
              </a:rPr>
              <a:t> can result in longer travel times and unnecessary fuel usage.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Existing systems often manage </a:t>
            </a:r>
            <a:r>
              <a:rPr lang="en-IN" sz="1700" b="1">
                <a:solidFill>
                  <a:schemeClr val="dk1"/>
                </a:solidFill>
              </a:rPr>
              <a:t>vehicles, drivers, trips, fuel, and maintenance separately</a:t>
            </a:r>
            <a:r>
              <a:rPr lang="en-IN" sz="1700">
                <a:solidFill>
                  <a:schemeClr val="dk1"/>
                </a:solidFill>
              </a:rPr>
              <a:t>, limiting integrated decision-making.</a:t>
            </a: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There is a need for an </a:t>
            </a:r>
            <a:r>
              <a:rPr lang="en-IN" sz="1700" b="1">
                <a:solidFill>
                  <a:schemeClr val="dk1"/>
                </a:solidFill>
              </a:rPr>
              <a:t>AI-powered SOA-based system</a:t>
            </a:r>
            <a:r>
              <a:rPr lang="en-IN" sz="1700">
                <a:solidFill>
                  <a:schemeClr val="dk1"/>
                </a:solidFill>
              </a:rPr>
              <a:t> that predicts risks and recommends efficient fleet decisions proactively.</a:t>
            </a:r>
            <a:endParaRPr sz="17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600">
              <a:solidFill>
                <a:schemeClr val="dk1"/>
              </a:solidFill>
            </a:endParaRPr>
          </a:p>
        </p:txBody>
      </p:sp>
      <p:pic>
        <p:nvPicPr>
          <p:cNvPr id="211" name="Google Shape;211;p27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364100" y="1787726"/>
            <a:ext cx="5604801" cy="2923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/>
        </p:nvSpPr>
        <p:spPr>
          <a:xfrm>
            <a:off x="3048000" y="469169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Objectives</a:t>
            </a:r>
          </a:p>
        </p:txBody>
      </p:sp>
      <p:pic>
        <p:nvPicPr>
          <p:cNvPr id="217" name="Google Shape;217;p2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8"/>
          <p:cNvSpPr txBox="1"/>
          <p:nvPr/>
        </p:nvSpPr>
        <p:spPr>
          <a:xfrm>
            <a:off x="191275" y="1179850"/>
            <a:ext cx="6232500" cy="6064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-IN" sz="1300" b="1" dirty="0">
                <a:solidFill>
                  <a:schemeClr val="dk1"/>
                </a:solidFill>
              </a:rPr>
              <a:t>To improve</a:t>
            </a:r>
            <a:r>
              <a:rPr lang="en-IN" sz="1300" dirty="0">
                <a:solidFill>
                  <a:schemeClr val="dk1"/>
                </a:solidFill>
              </a:rPr>
              <a:t> fleet management efficiency by integrating vehicle, driver, trip, route, fuel, and maintenance information through a unified intelligent system.</a:t>
            </a:r>
            <a:endParaRPr sz="1300" dirty="0"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-IN" sz="1300" b="1" dirty="0">
                <a:solidFill>
                  <a:schemeClr val="dk1"/>
                </a:solidFill>
              </a:rPr>
              <a:t>To leverage</a:t>
            </a:r>
            <a:r>
              <a:rPr lang="en-IN" sz="1300" dirty="0">
                <a:solidFill>
                  <a:schemeClr val="dk1"/>
                </a:solidFill>
              </a:rPr>
              <a:t> Machine Learning techniques for predictive maintenance, fuel-consumption prediction, vehicle allocation, and travel-time/route prediction.</a:t>
            </a:r>
            <a:endParaRPr sz="1300" dirty="0"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-IN" sz="1300" b="1" dirty="0">
                <a:solidFill>
                  <a:schemeClr val="dk1"/>
                </a:solidFill>
              </a:rPr>
              <a:t>To enhance the existing system, we propose an AI-Based Smart Fleet Management Framework</a:t>
            </a:r>
            <a:r>
              <a:rPr lang="en-IN" sz="1300" dirty="0">
                <a:solidFill>
                  <a:schemeClr val="dk1"/>
                </a:solidFill>
              </a:rPr>
              <a:t> that integrates independent SOA-based services for intelligent and scalable fleet operations.</a:t>
            </a:r>
            <a:endParaRPr sz="1300" dirty="0"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-IN" sz="1300" b="1" dirty="0">
                <a:solidFill>
                  <a:schemeClr val="dk1"/>
                </a:solidFill>
              </a:rPr>
              <a:t>To provide</a:t>
            </a:r>
            <a:r>
              <a:rPr lang="en-IN" sz="1300" dirty="0">
                <a:solidFill>
                  <a:schemeClr val="dk1"/>
                </a:solidFill>
              </a:rPr>
              <a:t> AI-assisted recommendations for selecting the most suitable vehicle and route based on vehicle condition, availability, fuel efficiency, maintenance risk, and trip requirements.</a:t>
            </a:r>
            <a:endParaRPr sz="1300" dirty="0"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-IN" sz="1300" b="1" dirty="0">
                <a:solidFill>
                  <a:schemeClr val="dk1"/>
                </a:solidFill>
              </a:rPr>
              <a:t>To develop</a:t>
            </a:r>
            <a:r>
              <a:rPr lang="en-IN" sz="1300" dirty="0">
                <a:solidFill>
                  <a:schemeClr val="dk1"/>
                </a:solidFill>
              </a:rPr>
              <a:t> an SOA-based modular architecture in which vehicle, driver, trip, maintenance, route, and AI services communicate through APIs and can be independently developed, deployed, and scaled.</a:t>
            </a:r>
            <a:endParaRPr sz="1300" dirty="0"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-IN" sz="1300" b="1" dirty="0">
                <a:solidFill>
                  <a:schemeClr val="dk1"/>
                </a:solidFill>
              </a:rPr>
              <a:t>To reduce</a:t>
            </a:r>
            <a:r>
              <a:rPr lang="en-IN" sz="1300" dirty="0">
                <a:solidFill>
                  <a:schemeClr val="dk1"/>
                </a:solidFill>
              </a:rPr>
              <a:t> unexpected vehicle breakdowns, fuel consumption, operational costs, and vehicle downtime through predictive and data-driven decision-making.</a:t>
            </a:r>
            <a:endParaRPr sz="1300" dirty="0">
              <a:solidFill>
                <a:schemeClr val="dk1"/>
              </a:solidFill>
            </a:endParaRPr>
          </a:p>
          <a:p>
            <a:pPr marL="285750" lvl="0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q"/>
            </a:pPr>
            <a:r>
              <a:rPr lang="en-IN" sz="1300" b="1" dirty="0">
                <a:solidFill>
                  <a:schemeClr val="dk1"/>
                </a:solidFill>
              </a:rPr>
              <a:t>To improve</a:t>
            </a:r>
            <a:r>
              <a:rPr lang="en-IN" sz="1300" dirty="0">
                <a:solidFill>
                  <a:schemeClr val="dk1"/>
                </a:solidFill>
              </a:rPr>
              <a:t> overall fleet utilization and transportation efficiency by enabling proactive planning and intelligent fleet optimization.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2000" b="1" dirty="0">
              <a:solidFill>
                <a:schemeClr val="dk1"/>
              </a:solidFill>
            </a:endParaRPr>
          </a:p>
        </p:txBody>
      </p:sp>
      <p:pic>
        <p:nvPicPr>
          <p:cNvPr id="219" name="Google Shape;219;p28"/>
          <p:cNvPicPr preferRelativeResize="0"/>
          <p:nvPr/>
        </p:nvPicPr>
        <p:blipFill rotWithShape="1">
          <a:blip r:embed="rId4"/>
          <a:srcRect l="1420" t="20006"/>
          <a:stretch>
            <a:fillRect/>
          </a:stretch>
        </p:blipFill>
        <p:spPr>
          <a:xfrm>
            <a:off x="6221700" y="1531150"/>
            <a:ext cx="5889500" cy="37956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" name="Google Shape;225;p29"/>
          <p:cNvGraphicFramePr/>
          <p:nvPr/>
        </p:nvGraphicFramePr>
        <p:xfrm>
          <a:off x="274646" y="689466"/>
          <a:ext cx="11642725" cy="5609975"/>
        </p:xfrm>
        <a:graphic>
          <a:graphicData uri="http://schemas.openxmlformats.org/drawingml/2006/table">
            <a:tbl>
              <a:tblPr firstRow="1" bandRow="1">
                <a:noFill/>
                <a:tableStyleId>{1872637C-6261-40BA-B51D-BEFA21951C8F}</a:tableStyleId>
              </a:tblPr>
              <a:tblGrid>
                <a:gridCol w="108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7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76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36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865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792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 panose="02020603050405020304"/>
                        <a:buNone/>
                      </a:pPr>
                      <a:r>
                        <a:rPr lang="en-IN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Authors</a:t>
                      </a:r>
                    </a:p>
                  </a:txBody>
                  <a:tcPr marL="91450" marR="91450" marT="45725" marB="45725"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 panose="020B0604020202020204"/>
                        <a:buNone/>
                      </a:pPr>
                      <a:r>
                        <a:rPr lang="en-IN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Title of the Paper</a:t>
                      </a:r>
                    </a:p>
                  </a:txBody>
                  <a:tcPr marL="91450" marR="91450" marT="45725" marB="45725"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 panose="02020603050405020304"/>
                        <a:buNone/>
                      </a:pPr>
                      <a:r>
                        <a:rPr lang="en-IN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Methodology</a:t>
                      </a:r>
                    </a:p>
                  </a:txBody>
                  <a:tcPr marL="91450" marR="91450" marT="45725" marB="45725"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 panose="02020603050405020304"/>
                        <a:buNone/>
                      </a:pPr>
                      <a:r>
                        <a:rPr lang="en-IN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Inferences</a:t>
                      </a:r>
                    </a:p>
                  </a:txBody>
                  <a:tcPr marL="91450" marR="91450" marT="45725" marB="45725"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Times New Roman" panose="02020603050405020304"/>
                        <a:buNone/>
                      </a:pPr>
                      <a:r>
                        <a:rPr lang="en-IN" sz="1800"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Limitation/Future work</a:t>
                      </a:r>
                    </a:p>
                  </a:txBody>
                  <a:tcPr marL="91450" marR="91450" marT="45725" marB="45725"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94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Theissler et al. (2021)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Predictive maintenance enabled by machine learning: Use cases and challenges in the automotive industry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Char char="•"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ML-based predictive maintenance; supervised and deep-learning approaches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just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Char char="•"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ML can use vehicle operating data to predict maintenance needs and support vehicle reliability.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400"/>
                        <a:buFont typeface="Arial" panose="020B0604020202020204"/>
                        <a:buChar char="•"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Requires sufficient labelled data; combining multiple data sources and improving interpretability remain challenges.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Monnerat et al. (2019)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Fleet management: A vehicle and driver assignment model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196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Generalized Assignment Problem; mathematical optimization and genetic-algorithm-based matheuristic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196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Joint vehicle-driver assignment can optimize planned trips and reduce operational costs.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196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Larger fleet-assignment problems become computationally challenging; heuristic approaches are needed for scalability.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Ko (2022)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Machine Learning Methods to Predict Vehicle Fuel Consumption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196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Linear Regression, KNN, Decision Tree, Random Forest, Gradient Boosting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196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Vehicle speed, acceleration and road gradient can be used as features for ML-based fuel-consumption prediction.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196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Prediction depends on driving and road conditions; broader real-world datasets can improve applicability.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Giannoulidis &amp; Gounaris (2023)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A context-aware unsupervised predictive maintenance solution for fleet management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196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Unsupervised streaming anomaly detection; proximity-based, statistical and transformer methods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19685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Context-aware anomaly detection can support predictive maintenance in vehicle fleet environments.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285750" marR="0" lvl="0" indent="-19685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Arial" panose="020B0604020202020204"/>
                        <a:buNone/>
                      </a:pPr>
                      <a:r>
                        <a:rPr lang="en-IN">
                          <a:solidFill>
                            <a:srgbClr val="FF0000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Detecting failures in advance remains challenging; wider data availability and real-world validation can improve robustness. </a:t>
                      </a:r>
                      <a:endParaRPr>
                        <a:solidFill>
                          <a:srgbClr val="FF0000"/>
                        </a:solidFill>
                        <a:latin typeface="Times New Roman" panose="02020603050405020304"/>
                        <a:ea typeface="Times New Roman" panose="02020603050405020304"/>
                        <a:cs typeface="Times New Roman" panose="02020603050405020304"/>
                        <a:sym typeface="Times New Roman" panose="02020603050405020304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26" name="Google Shape;226;p29"/>
          <p:cNvSpPr txBox="1"/>
          <p:nvPr/>
        </p:nvSpPr>
        <p:spPr>
          <a:xfrm>
            <a:off x="4560565" y="136525"/>
            <a:ext cx="3070868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>
                <a:solidFill>
                  <a:srgbClr val="0064C8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Literature Survey</a:t>
            </a:r>
            <a:endParaRPr sz="2800" b="1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7" name="Google Shape;227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5</a:t>
            </a:fld>
            <a:endParaRPr lang="en-IN"/>
          </a:p>
        </p:txBody>
      </p:sp>
      <p:pic>
        <p:nvPicPr>
          <p:cNvPr id="230" name="Google Shape;230;p29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/>
        </p:nvSpPr>
        <p:spPr>
          <a:xfrm>
            <a:off x="3048000" y="600078"/>
            <a:ext cx="6096000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Problem Gap Identification</a:t>
            </a:r>
          </a:p>
        </p:txBody>
      </p:sp>
      <p:pic>
        <p:nvPicPr>
          <p:cNvPr id="236" name="Google Shape;236;p30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30"/>
          <p:cNvSpPr txBox="1"/>
          <p:nvPr/>
        </p:nvSpPr>
        <p:spPr>
          <a:xfrm>
            <a:off x="226800" y="1318175"/>
            <a:ext cx="6096000" cy="576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chemeClr val="dk1"/>
                </a:solidFill>
              </a:rPr>
              <a:t>Problem Gap Identification</a:t>
            </a:r>
            <a:endParaRPr sz="17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chemeClr val="dk1"/>
                </a:solidFill>
              </a:rPr>
              <a:t>Existing approaches</a:t>
            </a:r>
            <a:endParaRPr sz="1700" b="1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200" dirty="0">
                <a:solidFill>
                  <a:schemeClr val="dk1"/>
                </a:solidFill>
              </a:rPr>
              <a:t>Primarily focus on </a:t>
            </a:r>
            <a:r>
              <a:rPr lang="en-IN" sz="1200" b="1" dirty="0">
                <a:solidFill>
                  <a:schemeClr val="dk1"/>
                </a:solidFill>
              </a:rPr>
              <a:t>vehicle tracking, trip scheduling, and record management</a:t>
            </a:r>
            <a:r>
              <a:rPr lang="en-IN" sz="1200" dirty="0">
                <a:solidFill>
                  <a:schemeClr val="dk1"/>
                </a:solidFill>
              </a:rPr>
              <a:t>.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200" dirty="0">
                <a:solidFill>
                  <a:schemeClr val="dk1"/>
                </a:solidFill>
              </a:rPr>
              <a:t>Fleet decisions often depend on </a:t>
            </a:r>
            <a:r>
              <a:rPr lang="en-IN" sz="1200" b="1" dirty="0">
                <a:solidFill>
                  <a:schemeClr val="dk1"/>
                </a:solidFill>
              </a:rPr>
              <a:t>manual and reactive decision-making</a:t>
            </a:r>
            <a:r>
              <a:rPr lang="en-IN" sz="1200" dirty="0">
                <a:solidFill>
                  <a:schemeClr val="dk1"/>
                </a:solidFill>
              </a:rPr>
              <a:t>.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200" dirty="0">
                <a:solidFill>
                  <a:schemeClr val="dk1"/>
                </a:solidFill>
              </a:rPr>
              <a:t>Maintenance is generally performed </a:t>
            </a:r>
            <a:r>
              <a:rPr lang="en-IN" sz="1200" b="1" dirty="0">
                <a:solidFill>
                  <a:schemeClr val="dk1"/>
                </a:solidFill>
              </a:rPr>
              <a:t>after faults or breakdowns occur</a:t>
            </a:r>
            <a:r>
              <a:rPr lang="en-IN" sz="1200" dirty="0">
                <a:solidFill>
                  <a:schemeClr val="dk1"/>
                </a:solidFill>
              </a:rPr>
              <a:t>.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200" dirty="0">
                <a:solidFill>
                  <a:schemeClr val="dk1"/>
                </a:solidFill>
              </a:rPr>
              <a:t>Vehicle allocation may not jointly consider </a:t>
            </a:r>
            <a:r>
              <a:rPr lang="en-IN" sz="1200" b="1" dirty="0">
                <a:solidFill>
                  <a:schemeClr val="dk1"/>
                </a:solidFill>
              </a:rPr>
              <a:t>availability, condition, fuel efficiency, and maintenance risk</a:t>
            </a:r>
            <a:r>
              <a:rPr lang="en-IN" sz="1200" dirty="0">
                <a:solidFill>
                  <a:schemeClr val="dk1"/>
                </a:solidFill>
              </a:rPr>
              <a:t>.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200" dirty="0">
                <a:solidFill>
                  <a:schemeClr val="dk1"/>
                </a:solidFill>
              </a:rPr>
              <a:t>Fuel monitoring and route planning are often handled </a:t>
            </a:r>
            <a:r>
              <a:rPr lang="en-IN" sz="1200" b="1" dirty="0">
                <a:solidFill>
                  <a:schemeClr val="dk1"/>
                </a:solidFill>
              </a:rPr>
              <a:t>independently</a:t>
            </a:r>
            <a:r>
              <a:rPr lang="en-IN" sz="1200" dirty="0">
                <a:solidFill>
                  <a:schemeClr val="dk1"/>
                </a:solidFill>
              </a:rPr>
              <a:t>.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IN" sz="1200" dirty="0">
                <a:solidFill>
                  <a:schemeClr val="dk1"/>
                </a:solidFill>
              </a:rPr>
              <a:t>Monolithic systems can make </a:t>
            </a:r>
            <a:r>
              <a:rPr lang="en-IN" sz="1200" b="1" dirty="0">
                <a:solidFill>
                  <a:schemeClr val="dk1"/>
                </a:solidFill>
              </a:rPr>
              <a:t>scaling, integration, and maintenance</a:t>
            </a:r>
            <a:r>
              <a:rPr lang="en-IN" sz="1200" dirty="0">
                <a:solidFill>
                  <a:schemeClr val="dk1"/>
                </a:solidFill>
              </a:rPr>
              <a:t> difficult.</a:t>
            </a:r>
            <a:endParaRPr sz="1200" dirty="0">
              <a:solidFill>
                <a:schemeClr val="dk1"/>
              </a:solidFill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IN" sz="1200" dirty="0">
                <a:solidFill>
                  <a:schemeClr val="dk1"/>
                </a:solidFill>
              </a:rPr>
              <a:t>Ambiguity in communication which can be overcome using </a:t>
            </a:r>
            <a:r>
              <a:rPr lang="en-IN" sz="1200" b="1" dirty="0">
                <a:solidFill>
                  <a:schemeClr val="dk1"/>
                </a:solidFill>
              </a:rPr>
              <a:t>AI integrated chatbots</a:t>
            </a:r>
            <a:endParaRPr sz="12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n-IN" sz="1700" b="1" dirty="0">
                <a:solidFill>
                  <a:schemeClr val="dk1"/>
                </a:solidFill>
              </a:rPr>
              <a:t>Identified Gap</a:t>
            </a:r>
            <a:endParaRPr sz="17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sz="1300" dirty="0">
                <a:solidFill>
                  <a:schemeClr val="dk1"/>
                </a:solidFill>
              </a:rPr>
              <a:t>There is a need for an integrated intelligent fleet-management system that combines:</a:t>
            </a:r>
            <a:endParaRPr sz="1300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sz="1300" b="1" dirty="0">
                <a:solidFill>
                  <a:schemeClr val="dk1"/>
                </a:solidFill>
              </a:rPr>
              <a:t>AI/ML Prediction + Predictive Maintenance + Fuel Prediction + Vehicle Allocation + Route/Travel-Time Prediction + SOA </a:t>
            </a:r>
            <a:r>
              <a:rPr lang="en-IN" sz="1300" b="1" dirty="0" err="1">
                <a:solidFill>
                  <a:schemeClr val="dk1"/>
                </a:solidFill>
              </a:rPr>
              <a:t>Architecture+AI</a:t>
            </a:r>
            <a:r>
              <a:rPr lang="en-IN" sz="1300" b="1" dirty="0">
                <a:solidFill>
                  <a:schemeClr val="dk1"/>
                </a:solidFill>
              </a:rPr>
              <a:t> chatbot</a:t>
            </a:r>
            <a:endParaRPr sz="1300" b="1" dirty="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500" dirty="0">
              <a:solidFill>
                <a:schemeClr val="dk1"/>
              </a:solidFill>
            </a:endParaRPr>
          </a:p>
        </p:txBody>
      </p:sp>
      <p:pic>
        <p:nvPicPr>
          <p:cNvPr id="238" name="Google Shape;238;p30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273200" y="1984622"/>
            <a:ext cx="5564401" cy="40047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1"/>
          <p:cNvSpPr txBox="1"/>
          <p:nvPr/>
        </p:nvSpPr>
        <p:spPr>
          <a:xfrm>
            <a:off x="1893060" y="567351"/>
            <a:ext cx="840587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6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Innovation, Creativity, and Novelty</a:t>
            </a:r>
          </a:p>
        </p:txBody>
      </p:sp>
      <p:pic>
        <p:nvPicPr>
          <p:cNvPr id="244" name="Google Shape;244;p31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31"/>
          <p:cNvSpPr txBox="1"/>
          <p:nvPr/>
        </p:nvSpPr>
        <p:spPr>
          <a:xfrm>
            <a:off x="386775" y="1213675"/>
            <a:ext cx="6329700" cy="53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sz="1500" b="1">
                <a:solidFill>
                  <a:schemeClr val="dk1"/>
                </a:solidFill>
              </a:rPr>
              <a:t>1. AI-Based Vehicle Allocation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sz="1300">
                <a:solidFill>
                  <a:schemeClr val="dk1"/>
                </a:solidFill>
              </a:rPr>
              <a:t>The system recommends the most suitable vehicle for each trip by considering: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IN" sz="1300">
                <a:solidFill>
                  <a:schemeClr val="dk1"/>
                </a:solidFill>
              </a:rPr>
              <a:t>Vehicle availability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IN" sz="1300">
                <a:solidFill>
                  <a:schemeClr val="dk1"/>
                </a:solidFill>
              </a:rPr>
              <a:t>Vehicle condition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IN" sz="1300">
                <a:solidFill>
                  <a:schemeClr val="dk1"/>
                </a:solidFill>
              </a:rPr>
              <a:t>Fuel efficiency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IN" sz="1300">
                <a:solidFill>
                  <a:schemeClr val="dk1"/>
                </a:solidFill>
              </a:rPr>
              <a:t>Maintenance risk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IN" sz="1300">
                <a:solidFill>
                  <a:schemeClr val="dk1"/>
                </a:solidFill>
              </a:rPr>
              <a:t>Trip requirements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sz="1500" b="1">
                <a:solidFill>
                  <a:schemeClr val="dk1"/>
                </a:solidFill>
              </a:rPr>
              <a:t>2. Predictive Fleet Intelligence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sz="1300">
                <a:solidFill>
                  <a:schemeClr val="dk1"/>
                </a:solidFill>
              </a:rPr>
              <a:t>Machine Learning predicts important fleet parameters such as: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IN" sz="1300">
                <a:solidFill>
                  <a:schemeClr val="dk1"/>
                </a:solidFill>
              </a:rPr>
              <a:t>Maintenance requirements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IN" sz="1300">
                <a:solidFill>
                  <a:schemeClr val="dk1"/>
                </a:solidFill>
              </a:rPr>
              <a:t>Fuel consumption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IN" sz="1300">
                <a:solidFill>
                  <a:schemeClr val="dk1"/>
                </a:solidFill>
              </a:rPr>
              <a:t>Travel time</a:t>
            </a:r>
            <a:endParaRPr sz="1300">
              <a:solidFill>
                <a:schemeClr val="dk1"/>
              </a:solidFill>
            </a:endParaRPr>
          </a:p>
          <a:p>
            <a:pPr marL="457200" lvl="0" indent="-3111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IN" sz="1300">
                <a:solidFill>
                  <a:schemeClr val="dk1"/>
                </a:solidFill>
              </a:rPr>
              <a:t>Route efficiency</a:t>
            </a:r>
            <a:endParaRPr sz="13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sz="1500" b="1">
                <a:solidFill>
                  <a:schemeClr val="dk1"/>
                </a:solidFill>
              </a:rPr>
              <a:t>3. Integrated SOA-Based Fleet Optimization</a:t>
            </a:r>
            <a:endParaRPr sz="15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IN" sz="1300">
                <a:solidFill>
                  <a:schemeClr val="dk1"/>
                </a:solidFill>
              </a:rPr>
              <a:t>Instead of managing fleet operations separately, the system integrates </a:t>
            </a:r>
            <a:r>
              <a:rPr lang="en-IN" sz="1300" b="1">
                <a:solidFill>
                  <a:schemeClr val="dk1"/>
                </a:solidFill>
              </a:rPr>
              <a:t>vehicle, driver, trip, route, maintenance, and AI services</a:t>
            </a:r>
            <a:r>
              <a:rPr lang="en-IN" sz="1300">
                <a:solidFill>
                  <a:schemeClr val="dk1"/>
                </a:solidFill>
              </a:rPr>
              <a:t> through APIs to provide intelligent and scalable fleet-management decisions.</a:t>
            </a:r>
            <a:endParaRPr sz="1500" b="1">
              <a:solidFill>
                <a:schemeClr val="dk1"/>
              </a:solidFill>
            </a:endParaRPr>
          </a:p>
        </p:txBody>
      </p:sp>
      <p:pic>
        <p:nvPicPr>
          <p:cNvPr id="246" name="Google Shape;246;p31"/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6393400" y="1800375"/>
            <a:ext cx="5585600" cy="401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2"/>
          <p:cNvSpPr txBox="1"/>
          <p:nvPr/>
        </p:nvSpPr>
        <p:spPr>
          <a:xfrm>
            <a:off x="313475" y="797450"/>
            <a:ext cx="7089600" cy="608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sz="2200" b="1">
                <a:solidFill>
                  <a:schemeClr val="dk1"/>
                </a:solidFill>
              </a:rPr>
              <a:t>4. Intelligent Route &amp; Travel-Time Prediction</a:t>
            </a:r>
            <a:endParaRPr sz="2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sz="2000">
                <a:solidFill>
                  <a:schemeClr val="dk1"/>
                </a:solidFill>
              </a:rPr>
              <a:t>Uses historical and operational data to predict travel time and recommend efficient routes for planned trips.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sz="2200" b="1">
                <a:solidFill>
                  <a:schemeClr val="dk1"/>
                </a:solidFill>
              </a:rPr>
              <a:t>5. Integrated Fleet Decision-Making</a:t>
            </a:r>
            <a:endParaRPr sz="2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sz="2000">
                <a:solidFill>
                  <a:schemeClr val="dk1"/>
                </a:solidFill>
              </a:rPr>
              <a:t>Combines vehicle, driver, trip, maintenance, fuel, and route information to provide data-driven fleet management decisions.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sz="2200" b="1">
                <a:solidFill>
                  <a:schemeClr val="dk1"/>
                </a:solidFill>
              </a:rPr>
              <a:t>6. SOA-Based Modular Architecture</a:t>
            </a:r>
            <a:endParaRPr sz="22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 panose="020B0604020202020204"/>
              <a:buNone/>
            </a:pPr>
            <a:r>
              <a:rPr lang="en-IN" sz="2000">
                <a:solidFill>
                  <a:schemeClr val="dk1"/>
                </a:solidFill>
              </a:rPr>
              <a:t>Implements independent services communicating through APIs, allowing vehicle, driver, trip, route, maintenance, and AI services to be developed, deployed, and scaled independently.</a:t>
            </a:r>
            <a:endParaRPr sz="20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sz="3700" b="1">
              <a:solidFill>
                <a:schemeClr val="dk1"/>
              </a:solidFill>
            </a:endParaRPr>
          </a:p>
        </p:txBody>
      </p:sp>
      <p:pic>
        <p:nvPicPr>
          <p:cNvPr id="253" name="Google Shape;253;p32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7645800" y="152400"/>
            <a:ext cx="4383475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 txBox="1"/>
          <p:nvPr/>
        </p:nvSpPr>
        <p:spPr>
          <a:xfrm>
            <a:off x="243675" y="586900"/>
            <a:ext cx="6634200" cy="151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dirty="0" err="1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DataSets</a:t>
            </a:r>
            <a:r>
              <a:rPr lang="en-IN" sz="2800" dirty="0">
                <a:solidFill>
                  <a:schemeClr val="dk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sz="2800" dirty="0">
              <a:solidFill>
                <a:schemeClr val="dk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0" name="Google Shape;260;p33"/>
          <p:cNvSpPr txBox="1"/>
          <p:nvPr/>
        </p:nvSpPr>
        <p:spPr>
          <a:xfrm>
            <a:off x="243675" y="1345600"/>
            <a:ext cx="5958600" cy="55704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228600" lvl="0" indent="0" algn="l" rtl="0">
              <a:lnSpc>
                <a:spcPct val="122000"/>
              </a:lnSpc>
              <a:spcBef>
                <a:spcPts val="170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202124"/>
                </a:solidFill>
                <a:highlight>
                  <a:srgbClr val="FFFFFF"/>
                </a:highlight>
              </a:rPr>
              <a:t>Logistics Vehicle Maintenance History Dataset </a:t>
            </a:r>
            <a:r>
              <a:rPr lang="en-IN" sz="1600" dirty="0">
                <a:solidFill>
                  <a:srgbClr val="202124"/>
                </a:solidFill>
                <a:highlight>
                  <a:srgbClr val="FFFFFF"/>
                </a:highlight>
              </a:rPr>
              <a:t>:</a:t>
            </a:r>
            <a:r>
              <a:rPr lang="en-IN" u="sng" dirty="0">
                <a:solidFill>
                  <a:schemeClr val="hlink"/>
                </a:solidFill>
                <a:hlinkClick r:id="rId3"/>
              </a:rPr>
              <a:t>https://www.kaggle.com/datasets/datasetengineer/logistics-vehicle-maintenance-history-dataset</a:t>
            </a:r>
            <a:endParaRPr lang="en-IN" u="sng" dirty="0">
              <a:solidFill>
                <a:schemeClr val="hlink"/>
              </a:solidFill>
            </a:endParaRPr>
          </a:p>
          <a:p>
            <a:pPr marL="285750" marR="228600" lvl="0" indent="-285750">
              <a:spcBef>
                <a:spcPts val="1700"/>
              </a:spcBef>
              <a:buFont typeface="Arial" panose="020B0604020202020204" pitchFamily="34" charset="0"/>
              <a:buChar char="•"/>
            </a:pPr>
            <a:r>
              <a:rPr lang="en-IN" dirty="0"/>
              <a:t>Used for predictive maintenance and identifying potential maintenance requirements from historical vehicle data.</a:t>
            </a:r>
            <a:endParaRPr lang="en-IN" u="sng" dirty="0">
              <a:solidFill>
                <a:schemeClr val="hlink"/>
              </a:solidFill>
            </a:endParaRPr>
          </a:p>
          <a:p>
            <a:pPr marL="0" lvl="0" indent="0" algn="l" rtl="0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202124"/>
                </a:solidFill>
                <a:highlight>
                  <a:srgbClr val="FFFFFF"/>
                </a:highlight>
              </a:rPr>
              <a:t>Logistics Operations Database: </a:t>
            </a:r>
            <a:r>
              <a:rPr lang="en-IN" u="sng" dirty="0">
                <a:solidFill>
                  <a:schemeClr val="hlink"/>
                </a:solidFill>
                <a:hlinkClick r:id="rId4"/>
              </a:rPr>
              <a:t>https://www.kaggle.com/datasets/yogape/logistics-operations-database</a:t>
            </a:r>
            <a:endParaRPr lang="en-IN" u="sng" dirty="0">
              <a:solidFill>
                <a:schemeClr val="hlink"/>
              </a:solidFill>
            </a:endParaRPr>
          </a:p>
          <a:p>
            <a:pPr marL="285750" lvl="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dirty="0"/>
              <a:t>Used for vehicle, driver, trip, and operational analysis to support intelligent vehicle allocation.</a:t>
            </a:r>
            <a:endParaRPr lang="en-IN" u="sng" dirty="0">
              <a:solidFill>
                <a:schemeClr val="hlink"/>
              </a:solidFill>
            </a:endParaRPr>
          </a:p>
          <a:p>
            <a:pPr marL="0" lvl="0" indent="0" algn="l" rtl="0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sz="1600" b="1" dirty="0">
                <a:solidFill>
                  <a:srgbClr val="202124"/>
                </a:solidFill>
                <a:highlight>
                  <a:srgbClr val="FFFFFF"/>
                </a:highlight>
              </a:rPr>
              <a:t>Logistics Operations Database</a:t>
            </a:r>
          </a:p>
          <a:p>
            <a:pPr marL="0" lvl="0" indent="0" algn="l" rtl="0">
              <a:lnSpc>
                <a:spcPct val="122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IN" u="sng" dirty="0">
                <a:solidFill>
                  <a:schemeClr val="hlink"/>
                </a:solidFill>
                <a:hlinkClick r:id="rId5"/>
              </a:rPr>
              <a:t>https://www.kaggle.com/datasets/kundanbedmutha/delivery-logistics-dataset-india-multi-partner</a:t>
            </a:r>
            <a:endParaRPr lang="en-IN" u="sng" dirty="0">
              <a:solidFill>
                <a:schemeClr val="hlink"/>
              </a:solidFill>
            </a:endParaRPr>
          </a:p>
          <a:p>
            <a:pPr marL="285750" lvl="0" indent="-285750">
              <a:spcBef>
                <a:spcPts val="1200"/>
              </a:spcBef>
              <a:buFont typeface="Arial" panose="020B0604020202020204" pitchFamily="34" charset="0"/>
              <a:buChar char="•"/>
            </a:pPr>
            <a:r>
              <a:rPr lang="en-IN" dirty="0"/>
              <a:t>Used for </a:t>
            </a:r>
            <a:r>
              <a:rPr lang="en-IN" dirty="0" err="1"/>
              <a:t>analyzing</a:t>
            </a:r>
            <a:r>
              <a:rPr lang="en-IN" dirty="0"/>
              <a:t> delivery operations and supporting route and travel-time prediction.</a:t>
            </a:r>
            <a:endParaRPr lang="en-IN" u="sng" dirty="0">
              <a:solidFill>
                <a:schemeClr val="hlink"/>
              </a:solidFill>
            </a:endParaRPr>
          </a:p>
          <a:p>
            <a:pPr marL="0" marR="228600" lvl="0" indent="0" algn="l" rtl="0">
              <a:lnSpc>
                <a:spcPct val="122000"/>
              </a:lnSpc>
              <a:spcBef>
                <a:spcPts val="1700"/>
              </a:spcBef>
              <a:spcAft>
                <a:spcPts val="1200"/>
              </a:spcAft>
              <a:buNone/>
            </a:pPr>
            <a:endParaRPr lang="en-IN" u="sng" dirty="0">
              <a:solidFill>
                <a:schemeClr val="hlink"/>
              </a:solidFill>
            </a:endParaRPr>
          </a:p>
        </p:txBody>
      </p:sp>
      <p:pic>
        <p:nvPicPr>
          <p:cNvPr id="261" name="Google Shape;261;p33"/>
          <p:cNvPicPr preferRelativeResize="0"/>
          <p:nvPr/>
        </p:nvPicPr>
        <p:blipFill>
          <a:blip r:embed="rId6"/>
          <a:stretch>
            <a:fillRect/>
          </a:stretch>
        </p:blipFill>
        <p:spPr>
          <a:xfrm>
            <a:off x="6468150" y="863900"/>
            <a:ext cx="5571000" cy="4443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4"/>
          <p:cNvSpPr txBox="1"/>
          <p:nvPr/>
        </p:nvSpPr>
        <p:spPr>
          <a:xfrm>
            <a:off x="2615380" y="551058"/>
            <a:ext cx="7234014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4000" b="1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Feasibility and Project Plan</a:t>
            </a:r>
          </a:p>
        </p:txBody>
      </p:sp>
      <p:sp>
        <p:nvSpPr>
          <p:cNvPr id="267" name="Google Shape;267;p34"/>
          <p:cNvSpPr txBox="1"/>
          <p:nvPr/>
        </p:nvSpPr>
        <p:spPr>
          <a:xfrm>
            <a:off x="1381398" y="1743891"/>
            <a:ext cx="1011603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TIMELINE CHART FOR EACH PHASE OF YOUR PROJECT SHOULD BE THERE AFTER EXPLANATION</a:t>
            </a:r>
          </a:p>
        </p:txBody>
      </p:sp>
      <p:pic>
        <p:nvPicPr>
          <p:cNvPr id="268" name="Google Shape;268;p34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34"/>
          <p:cNvPicPr preferRelativeResize="0"/>
          <p:nvPr/>
        </p:nvPicPr>
        <p:blipFill rotWithShape="1">
          <a:blip r:embed="rId4"/>
          <a:srcRect l="729" t="1295" r="798" b="1315"/>
          <a:stretch>
            <a:fillRect/>
          </a:stretch>
        </p:blipFill>
        <p:spPr>
          <a:xfrm>
            <a:off x="88600" y="88600"/>
            <a:ext cx="12005925" cy="6678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" name="Google Shape;275;p35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699525" y="0"/>
            <a:ext cx="10214051" cy="68579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Implemetation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85000" lnSpcReduction="10000"/>
          </a:bodyPr>
          <a:lstStyle/>
          <a:p>
            <a:pPr lvl="0"/>
            <a:r>
              <a:rPr lang="en-IN" dirty="0"/>
              <a:t>Developed a role-based web interface for Manager, Driver, and User. </a:t>
            </a:r>
          </a:p>
          <a:p>
            <a:pPr lvl="0"/>
            <a:r>
              <a:rPr lang="en-IN" dirty="0"/>
              <a:t>Provides dashboards for vehicle, driver, trip, maintenance, fuel, and route information. </a:t>
            </a:r>
          </a:p>
          <a:p>
            <a:pPr lvl="0"/>
            <a:r>
              <a:rPr lang="en-IN" dirty="0"/>
              <a:t>Integrates backend services through APIs following the SOA architecture. </a:t>
            </a:r>
          </a:p>
          <a:p>
            <a:pPr lvl="0"/>
            <a:r>
              <a:rPr lang="en-IN" dirty="0"/>
              <a:t>Displays AI/ML predictions and vehicle-allocation recommendations. </a:t>
            </a:r>
          </a:p>
          <a:p>
            <a:pPr lvl="0"/>
            <a:r>
              <a:rPr lang="en-IN" dirty="0"/>
              <a:t>Provides route and travel-time prediction results for planned trips. </a:t>
            </a:r>
          </a:p>
          <a:p>
            <a:pPr lvl="0"/>
            <a:r>
              <a:rPr lang="en-IN" dirty="0"/>
              <a:t>Includes an AI chatbot for natural-language interaction and easier access to fleet information. </a:t>
            </a:r>
          </a:p>
          <a:p>
            <a:pPr lvl="0"/>
            <a:r>
              <a:rPr lang="en-IN" dirty="0"/>
              <a:t>Designed with a modular structure so individual services can be integrated and updated independently.</a:t>
            </a:r>
          </a:p>
          <a:p>
            <a:endParaRPr lang="en-US" dirty="0"/>
          </a:p>
        </p:txBody>
      </p:sp>
      <p:pic>
        <p:nvPicPr>
          <p:cNvPr id="6" name="Google Shape;176;p25">
            <a:extLst>
              <a:ext uri="{FF2B5EF4-FFF2-40B4-BE49-F238E27FC236}">
                <a16:creationId xmlns:a16="http://schemas.microsoft.com/office/drawing/2014/main" id="{3DA67613-EBCA-54A2-C0F9-737333C2006E}"/>
              </a:ext>
            </a:extLst>
          </p:cNvPr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40D44-0F1A-5988-2D32-77DB12ECC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713F8-248B-DD28-4BFE-7F31D0A8F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r>
              <a:rPr lang="en-IN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Implemetation</a:t>
            </a:r>
            <a:endParaRPr lang="en-I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94BE22-3B46-E403-5587-4DB4CEF80D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A20D9A-E9BE-991C-74BE-C840589BEC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690688"/>
            <a:ext cx="10683240" cy="4877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43291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180" y="735330"/>
            <a:ext cx="10835640" cy="53873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2480" y="704850"/>
            <a:ext cx="10607040" cy="54483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/>
              <a:t>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420" y="731520"/>
            <a:ext cx="10805160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Thankyou</a:t>
            </a:r>
          </a:p>
        </p:txBody>
      </p:sp>
      <p:pic>
        <p:nvPicPr>
          <p:cNvPr id="282" name="Google Shape;282;p3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8" cy="6861621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36"/>
          <p:cNvSpPr/>
          <p:nvPr/>
        </p:nvSpPr>
        <p:spPr>
          <a:xfrm>
            <a:off x="741750" y="3027875"/>
            <a:ext cx="1278000" cy="1085100"/>
          </a:xfrm>
          <a:prstGeom prst="ellipse">
            <a:avLst/>
          </a:prstGeom>
          <a:solidFill>
            <a:srgbClr val="F6F8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1135</Words>
  <Application>Microsoft Office PowerPoint</Application>
  <PresentationFormat>Widescreen</PresentationFormat>
  <Paragraphs>151</Paragraphs>
  <Slides>17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Play</vt:lpstr>
      <vt:lpstr>Wingdings</vt:lpstr>
      <vt:lpstr>Calibri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FrontEnd Implemetation</vt:lpstr>
      <vt:lpstr>FrontEnd Implemetation</vt:lpstr>
      <vt:lpstr>.</vt:lpstr>
      <vt:lpstr>.</vt:lpstr>
      <vt:lpstr>.</vt:lpstr>
      <vt:lpstr>Thankyou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Hasitha Pydah</cp:lastModifiedBy>
  <cp:revision>2</cp:revision>
  <dcterms:created xsi:type="dcterms:W3CDTF">2026-09-21T09:21:17Z</dcterms:created>
  <dcterms:modified xsi:type="dcterms:W3CDTF">2026-09-22T08:21:20Z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A80E0FE725FC461D89A8E1AE69476667_12</vt:lpwstr>
  </property>
</Properties>
</file>